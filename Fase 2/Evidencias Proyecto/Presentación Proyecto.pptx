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ambria Bold" charset="1" panose="02040803050406030204"/>
      <p:regular r:id="rId20"/>
    </p:embeddedFont>
    <p:embeddedFont>
      <p:font typeface="Calibri (MS)" charset="1" panose="020F0502020204030204"/>
      <p:regular r:id="rId21"/>
    </p:embeddedFont>
    <p:embeddedFont>
      <p:font typeface="Calibri (MS) Bold" charset="1" panose="020F0702030404030204"/>
      <p:regular r:id="rId22"/>
    </p:embeddedFont>
    <p:embeddedFont>
      <p:font typeface="Cambria" charset="1" panose="02040503050406030204"/>
      <p:regular r:id="rId25"/>
    </p:embeddedFont>
    <p:embeddedFont>
      <p:font typeface="Libra Serif Modern Bold" charset="1" panose="02000803080000020004"/>
      <p:regular r:id="rId34"/>
    </p:embeddedFont>
    <p:embeddedFont>
      <p:font typeface="Open Sans Medium" charset="1" panose="00000000000000000000"/>
      <p:regular r:id="rId35"/>
    </p:embeddedFont>
    <p:embeddedFont>
      <p:font typeface="Open Sans Bold" charset="1" panose="0000000000000000000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Presentación del proyecto DuocMind. Saludar, presentar al equipo y al profesor patrocinante. Duración sugerida: 10-12 minutos.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Dato de la Universidad de Chile (2019): un tercio de quienes ingresan a la educación superior tiene antecedentes de problemas de salud mental y el 75 % se inicia antes de los 24 años. En nuestra sede, los estudiantes de primer y segundo año son los más afectados.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Este es el planteamiento del problema: falta integración entre organización académica y bienestar emocional, y el área de Bienestar no tiene un medio propio para comunicarse.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DuocMind tiene tres partes: la app móvil para el estudiante, un panel web para el área de Bienestar y un backend en la nube con Supabase.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Recorrer las funcionalidades. Mencionar el tutorial de bienvenida y el modo oscuro. Los recursos de crisis están disponibles sin conexión.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Principio clave: el proyecto es no clínico. Por eso el objetivo de alertas tempranas se acotó a avisos privados y prudentes, sin contactar a terceros.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Objetivo general y siete objetivos específicos definidos en la Fase 1. El objetivo 6 se acotó por el enfoque no clínico.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Roles formales de la Fase 1 y aportes concretos de cada integrante según los diarios de reflexión de la Fase 2.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Fase 1: encuesta con 14 respuestas, entrevista con un psicólogo (la de Bienestar Estudiantil no se pudo concretar) y prototipo. Fase 2: desarrollo de los módulos principales. Pendiente: validación en dispositivos Android y con estudiantes.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Ser transparentes con las dificultades y mostrar cómo las enfrentamos. Cerrar con los próximos pasos concretos.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Agradecer y abrir espacio para preguntas.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jpe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57383" y="-2207257"/>
            <a:ext cx="9169403" cy="9169403"/>
            <a:chOff x="0" y="0"/>
            <a:chExt cx="12225871" cy="12225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25909" cy="12225909"/>
            </a:xfrm>
            <a:custGeom>
              <a:avLst/>
              <a:gdLst/>
              <a:ahLst/>
              <a:cxnLst/>
              <a:rect r="r" b="b" t="t" l="l"/>
              <a:pathLst>
                <a:path h="12225909" w="12225909">
                  <a:moveTo>
                    <a:pt x="0" y="6112891"/>
                  </a:moveTo>
                  <a:cubicBezTo>
                    <a:pt x="0" y="2736850"/>
                    <a:pt x="2736850" y="0"/>
                    <a:pt x="6112891" y="0"/>
                  </a:cubicBezTo>
                  <a:cubicBezTo>
                    <a:pt x="9488932" y="0"/>
                    <a:pt x="12225909" y="2736850"/>
                    <a:pt x="12225909" y="6112891"/>
                  </a:cubicBezTo>
                  <a:cubicBezTo>
                    <a:pt x="12225909" y="9488932"/>
                    <a:pt x="9489059" y="12225909"/>
                    <a:pt x="6112891" y="12225909"/>
                  </a:cubicBezTo>
                  <a:cubicBezTo>
                    <a:pt x="2736723" y="12225909"/>
                    <a:pt x="0" y="9489059"/>
                    <a:pt x="0" y="6112891"/>
                  </a:cubicBezTo>
                  <a:close/>
                </a:path>
              </a:pathLst>
            </a:custGeom>
            <a:solidFill>
              <a:srgbClr val="2A9D8F">
                <a:alpha val="8627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251943" y="4742183"/>
            <a:ext cx="6609083" cy="6609083"/>
            <a:chOff x="0" y="0"/>
            <a:chExt cx="8812111" cy="88121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812149" cy="8812149"/>
            </a:xfrm>
            <a:custGeom>
              <a:avLst/>
              <a:gdLst/>
              <a:ahLst/>
              <a:cxnLst/>
              <a:rect r="r" b="b" t="t" l="l"/>
              <a:pathLst>
                <a:path h="8812149" w="8812149">
                  <a:moveTo>
                    <a:pt x="0" y="4406011"/>
                  </a:moveTo>
                  <a:cubicBezTo>
                    <a:pt x="0" y="1972691"/>
                    <a:pt x="1972691" y="0"/>
                    <a:pt x="4406011" y="0"/>
                  </a:cubicBezTo>
                  <a:cubicBezTo>
                    <a:pt x="6839331" y="0"/>
                    <a:pt x="8812149" y="1972691"/>
                    <a:pt x="8812149" y="4406011"/>
                  </a:cubicBezTo>
                  <a:cubicBezTo>
                    <a:pt x="8812149" y="6839331"/>
                    <a:pt x="6839458" y="8812149"/>
                    <a:pt x="4406011" y="8812149"/>
                  </a:cubicBezTo>
                  <a:cubicBezTo>
                    <a:pt x="1972564" y="8812149"/>
                    <a:pt x="0" y="6839458"/>
                    <a:pt x="0" y="4406011"/>
                  </a:cubicBezTo>
                  <a:close/>
                </a:path>
              </a:pathLst>
            </a:custGeom>
            <a:solidFill>
              <a:srgbClr val="F2B33D">
                <a:alpha val="5882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80160" y="1280160"/>
            <a:ext cx="1097280" cy="1097280"/>
            <a:chOff x="0" y="0"/>
            <a:chExt cx="1463040" cy="1463040"/>
          </a:xfrm>
        </p:grpSpPr>
        <p:sp>
          <p:nvSpPr>
            <p:cNvPr name="Freeform 7" id="7" descr="Icono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80160" y="2743200"/>
            <a:ext cx="12801600" cy="2011680"/>
            <a:chOff x="0" y="0"/>
            <a:chExt cx="17068800" cy="2682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3995" r="0" b="-7399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7068800" cy="2691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00"/>
                </a:lnSpc>
              </a:pPr>
              <a:r>
                <a:rPr lang="en-US" sz="12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DuocMind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80160" y="4846320"/>
            <a:ext cx="10972800" cy="1645920"/>
            <a:chOff x="0" y="0"/>
            <a:chExt cx="14630400" cy="21945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14630400" cy="2280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7FC8B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Agenda estudiantil con enfoque en salud mental para estudiantes de Duoc UC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80160" y="7315200"/>
            <a:ext cx="14630400" cy="640080"/>
            <a:chOff x="0" y="0"/>
            <a:chExt cx="19507200" cy="853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507200" cy="853440"/>
            </a:xfrm>
            <a:custGeom>
              <a:avLst/>
              <a:gdLst/>
              <a:ahLst/>
              <a:cxnLst/>
              <a:rect r="r" b="b" t="t" l="l"/>
              <a:pathLst>
                <a:path h="85344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95072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Hans Mancilla  ·  Gustavo Roldán  ·  Nicolás Hernández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80160" y="8046720"/>
            <a:ext cx="14630400" cy="1097280"/>
            <a:chOff x="0" y="0"/>
            <a:chExt cx="19507200" cy="1463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507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5072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7FC8B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APT · Ingeniería en Informática · Duoc UC Sede Puerto Montt · 2026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7FC8B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Profesor patrocinante: Germán Barrientos Tereucán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731520"/>
            <a:ext cx="16093440" cy="1280160"/>
            <a:chOff x="0" y="0"/>
            <a:chExt cx="2145792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79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45792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60"/>
                </a:lnSpc>
              </a:pPr>
              <a:r>
                <a:rPr lang="en-US" sz="6800" b="true">
                  <a:solidFill>
                    <a:srgbClr val="0F3D4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El problema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97280" y="1920240"/>
            <a:ext cx="16093440" cy="731520"/>
            <a:chOff x="0" y="0"/>
            <a:chExt cx="21457920" cy="975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457920" cy="975360"/>
            </a:xfrm>
            <a:custGeom>
              <a:avLst/>
              <a:gdLst/>
              <a:ahLst/>
              <a:cxnLst/>
              <a:rect r="r" b="b" t="t" l="l"/>
              <a:pathLst>
                <a:path h="97536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45792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5B7C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 salud mental estudiantil es una preocupación creciente en Chile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7280" y="3108960"/>
            <a:ext cx="4937760" cy="4206240"/>
            <a:chOff x="0" y="0"/>
            <a:chExt cx="6583680" cy="5608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83680" cy="5608320"/>
            </a:xfrm>
            <a:custGeom>
              <a:avLst/>
              <a:gdLst/>
              <a:ahLst/>
              <a:cxnLst/>
              <a:rect r="r" b="b" t="t" l="l"/>
              <a:pathLst>
                <a:path h="5608320" w="6583680">
                  <a:moveTo>
                    <a:pt x="0" y="292608"/>
                  </a:moveTo>
                  <a:cubicBezTo>
                    <a:pt x="0" y="130937"/>
                    <a:pt x="130937" y="0"/>
                    <a:pt x="292608" y="0"/>
                  </a:cubicBezTo>
                  <a:lnTo>
                    <a:pt x="6291072" y="0"/>
                  </a:lnTo>
                  <a:cubicBezTo>
                    <a:pt x="6452616" y="0"/>
                    <a:pt x="6583680" y="130937"/>
                    <a:pt x="6583680" y="292608"/>
                  </a:cubicBezTo>
                  <a:lnTo>
                    <a:pt x="6583680" y="5315712"/>
                  </a:lnTo>
                  <a:cubicBezTo>
                    <a:pt x="6583680" y="5477256"/>
                    <a:pt x="6452743" y="5608320"/>
                    <a:pt x="6291072" y="5608320"/>
                  </a:cubicBezTo>
                  <a:lnTo>
                    <a:pt x="292608" y="5608320"/>
                  </a:lnTo>
                  <a:cubicBezTo>
                    <a:pt x="130937" y="5608320"/>
                    <a:pt x="0" y="5477383"/>
                    <a:pt x="0" y="53157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400800" y="3108960"/>
            <a:ext cx="4937760" cy="4206240"/>
            <a:chOff x="0" y="0"/>
            <a:chExt cx="6583680" cy="56083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83680" cy="5608320"/>
            </a:xfrm>
            <a:custGeom>
              <a:avLst/>
              <a:gdLst/>
              <a:ahLst/>
              <a:cxnLst/>
              <a:rect r="r" b="b" t="t" l="l"/>
              <a:pathLst>
                <a:path h="5608320" w="6583680">
                  <a:moveTo>
                    <a:pt x="0" y="292608"/>
                  </a:moveTo>
                  <a:cubicBezTo>
                    <a:pt x="0" y="130937"/>
                    <a:pt x="130937" y="0"/>
                    <a:pt x="292608" y="0"/>
                  </a:cubicBezTo>
                  <a:lnTo>
                    <a:pt x="6291072" y="0"/>
                  </a:lnTo>
                  <a:cubicBezTo>
                    <a:pt x="6452616" y="0"/>
                    <a:pt x="6583680" y="130937"/>
                    <a:pt x="6583680" y="292608"/>
                  </a:cubicBezTo>
                  <a:lnTo>
                    <a:pt x="6583680" y="5315712"/>
                  </a:lnTo>
                  <a:cubicBezTo>
                    <a:pt x="6583680" y="5477256"/>
                    <a:pt x="6452743" y="5608320"/>
                    <a:pt x="6291072" y="5608320"/>
                  </a:cubicBezTo>
                  <a:lnTo>
                    <a:pt x="292608" y="5608320"/>
                  </a:lnTo>
                  <a:cubicBezTo>
                    <a:pt x="130937" y="5608320"/>
                    <a:pt x="0" y="5477383"/>
                    <a:pt x="0" y="53157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97280" y="3474720"/>
            <a:ext cx="4937760" cy="1645920"/>
            <a:chOff x="0" y="0"/>
            <a:chExt cx="6583680" cy="21945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5836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658368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519"/>
                </a:lnSpc>
              </a:pPr>
              <a:r>
                <a:rPr lang="en-US" sz="9600" b="true">
                  <a:solidFill>
                    <a:srgbClr val="2A9D8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 de 3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63040" y="5120640"/>
            <a:ext cx="4206240" cy="2011680"/>
            <a:chOff x="0" y="0"/>
            <a:chExt cx="5608320" cy="26822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6083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362" t="0" r="-11362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5608320" cy="2748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1B2B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estudiantes que ingresan a educación superior tiene antecedentes de problemas de salud mental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400800" y="3474720"/>
            <a:ext cx="4937760" cy="1645920"/>
            <a:chOff x="0" y="0"/>
            <a:chExt cx="6583680" cy="21945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5836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658368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519"/>
                </a:lnSpc>
              </a:pPr>
              <a:r>
                <a:rPr lang="en-US" sz="9600" b="true">
                  <a:solidFill>
                    <a:srgbClr val="E76F5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75 %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766560" y="5120640"/>
            <a:ext cx="4206240" cy="2011680"/>
            <a:chOff x="0" y="0"/>
            <a:chExt cx="5608320" cy="26822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6083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362" t="0" r="-11362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5608320" cy="2748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1B2B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 esos casos se inicia antes de los 24 años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97280" y="7589520"/>
            <a:ext cx="10241280" cy="548640"/>
            <a:chOff x="0" y="0"/>
            <a:chExt cx="1365504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655039" cy="731520"/>
            </a:xfrm>
            <a:custGeom>
              <a:avLst/>
              <a:gdLst/>
              <a:ahLst/>
              <a:cxnLst/>
              <a:rect r="r" b="b" t="t" l="l"/>
              <a:pathLst>
                <a:path h="731520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720" r="0" b="-31372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3655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5B7C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Fuente: Universidad de Chile (2019)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887200" y="3108960"/>
            <a:ext cx="5303520" cy="5486400"/>
            <a:chOff x="0" y="0"/>
            <a:chExt cx="7071360" cy="7315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07136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07136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6778752" y="0"/>
                  </a:lnTo>
                  <a:cubicBezTo>
                    <a:pt x="6940297" y="0"/>
                    <a:pt x="7071360" y="131064"/>
                    <a:pt x="7071360" y="292608"/>
                  </a:cubicBezTo>
                  <a:lnTo>
                    <a:pt x="7071360" y="7022592"/>
                  </a:lnTo>
                  <a:cubicBezTo>
                    <a:pt x="7071360" y="7184136"/>
                    <a:pt x="6940297" y="7315200"/>
                    <a:pt x="6778752" y="7315200"/>
                  </a:cubicBezTo>
                  <a:lnTo>
                    <a:pt x="292608" y="7315200"/>
                  </a:lnTo>
                  <a:cubicBezTo>
                    <a:pt x="131064" y="7315200"/>
                    <a:pt x="0" y="7184136"/>
                    <a:pt x="0" y="7022592"/>
                  </a:cubicBezTo>
                  <a:close/>
                </a:path>
              </a:pathLst>
            </a:custGeom>
            <a:solidFill>
              <a:srgbClr val="0F3D4C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252960" y="3383280"/>
            <a:ext cx="4572000" cy="731520"/>
            <a:chOff x="0" y="0"/>
            <a:chExt cx="6096000" cy="9753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096000" cy="975360"/>
            </a:xfrm>
            <a:custGeom>
              <a:avLst/>
              <a:gdLst/>
              <a:ahLst/>
              <a:cxnLst/>
              <a:rect r="r" b="b" t="t" l="l"/>
              <a:pathLst>
                <a:path h="9753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60960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2B3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 Duoc UC Puerto Montt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2252960" y="4139565"/>
            <a:ext cx="4663440" cy="427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Estudiantes de primer y segundo año sufren más la adaptación académica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Estrés, ansiedad y sobrecarga: estudio, trabajo y familia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Mayor riesgo de deserción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733520" y="9517380"/>
            <a:ext cx="7315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7C8A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3040" y="1463040"/>
            <a:ext cx="15361920" cy="731520"/>
            <a:chOff x="0" y="0"/>
            <a:chExt cx="20482560" cy="9753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482561" cy="975360"/>
            </a:xfrm>
            <a:custGeom>
              <a:avLst/>
              <a:gdLst/>
              <a:ahLst/>
              <a:cxnLst/>
              <a:rect r="r" b="b" t="t" l="l"/>
              <a:pathLst>
                <a:path h="97536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04825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 spc="600">
                  <a:solidFill>
                    <a:srgbClr val="F2B3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 PREGUNTA QUE GUÍA EL PROYECTO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63040" y="2550795"/>
            <a:ext cx="15361920" cy="403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5199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¿Cómo puede una aplicación Android ayudar a los estudiantes a organizar su carga académica y a reflexionar sobre su estado emocional, resguardando su privacidad y sin sustituir la atención profesional?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7132320"/>
            <a:ext cx="15361920" cy="1645920"/>
            <a:chOff x="0" y="0"/>
            <a:chExt cx="20482560" cy="21945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482561" cy="2194560"/>
            </a:xfrm>
            <a:custGeom>
              <a:avLst/>
              <a:gdLst/>
              <a:ahLst/>
              <a:cxnLst/>
              <a:rect r="r" b="b" t="t" l="l"/>
              <a:pathLst>
                <a:path h="219456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2048256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7FC8B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Hoy no existe una herramienta que integre la agenda de evaluaciones con el seguimiento del bienestar emocional, ni un medio propio para que Bienestar y Salud publique eventos, consejos y cuestionarios.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731520"/>
            <a:ext cx="16093440" cy="1280160"/>
            <a:chOff x="0" y="0"/>
            <a:chExt cx="2145792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79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45792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60"/>
                </a:lnSpc>
              </a:pPr>
              <a:r>
                <a:rPr lang="en-US" sz="6800" b="true">
                  <a:solidFill>
                    <a:srgbClr val="0F3D4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Nuestra solución: DuocMind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97280" y="1920240"/>
            <a:ext cx="16093440" cy="731520"/>
            <a:chOff x="0" y="0"/>
            <a:chExt cx="21457920" cy="975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457920" cy="975360"/>
            </a:xfrm>
            <a:custGeom>
              <a:avLst/>
              <a:gdLst/>
              <a:ahLst/>
              <a:cxnLst/>
              <a:rect r="r" b="b" t="t" l="l"/>
              <a:pathLst>
                <a:path h="97536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45792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5B7C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 ecosistema de tres partes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7280" y="3291840"/>
            <a:ext cx="5120640" cy="5303520"/>
            <a:chOff x="0" y="0"/>
            <a:chExt cx="6827520" cy="7071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27520" cy="7071360"/>
            </a:xfrm>
            <a:custGeom>
              <a:avLst/>
              <a:gdLst/>
              <a:ahLst/>
              <a:cxnLst/>
              <a:rect r="r" b="b" t="t" l="l"/>
              <a:pathLst>
                <a:path h="7071360" w="682752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6534912" y="0"/>
                  </a:lnTo>
                  <a:cubicBezTo>
                    <a:pt x="6696583" y="0"/>
                    <a:pt x="6827520" y="131064"/>
                    <a:pt x="6827520" y="292608"/>
                  </a:cubicBezTo>
                  <a:lnTo>
                    <a:pt x="6827520" y="6778752"/>
                  </a:lnTo>
                  <a:cubicBezTo>
                    <a:pt x="6827520" y="6940423"/>
                    <a:pt x="6696456" y="7071360"/>
                    <a:pt x="6534912" y="7071360"/>
                  </a:cubicBezTo>
                  <a:lnTo>
                    <a:pt x="292608" y="7071360"/>
                  </a:lnTo>
                  <a:cubicBezTo>
                    <a:pt x="131064" y="7071360"/>
                    <a:pt x="0" y="6940296"/>
                    <a:pt x="0" y="67787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54480" y="3657600"/>
            <a:ext cx="1463040" cy="1463040"/>
            <a:chOff x="0" y="0"/>
            <a:chExt cx="1950720" cy="1950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50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">
                  <a:moveTo>
                    <a:pt x="0" y="975360"/>
                  </a:moveTo>
                  <a:cubicBezTo>
                    <a:pt x="0" y="436626"/>
                    <a:pt x="436626" y="0"/>
                    <a:pt x="975360" y="0"/>
                  </a:cubicBezTo>
                  <a:cubicBezTo>
                    <a:pt x="1514094" y="0"/>
                    <a:pt x="1950720" y="436626"/>
                    <a:pt x="1950720" y="975360"/>
                  </a:cubicBezTo>
                  <a:cubicBezTo>
                    <a:pt x="1950720" y="1514094"/>
                    <a:pt x="1514094" y="1950720"/>
                    <a:pt x="975360" y="1950720"/>
                  </a:cubicBezTo>
                  <a:cubicBezTo>
                    <a:pt x="436626" y="1950720"/>
                    <a:pt x="0" y="1514094"/>
                    <a:pt x="0" y="975360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920240" y="4023360"/>
            <a:ext cx="731520" cy="731520"/>
            <a:chOff x="0" y="0"/>
            <a:chExt cx="975360" cy="975360"/>
          </a:xfrm>
        </p:grpSpPr>
        <p:sp>
          <p:nvSpPr>
            <p:cNvPr name="Freeform 13" id="13" descr="FaMobileAlt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54480" y="5394960"/>
            <a:ext cx="4206240" cy="731520"/>
            <a:chOff x="0" y="0"/>
            <a:chExt cx="5608320" cy="975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08320" cy="975360"/>
            </a:xfrm>
            <a:custGeom>
              <a:avLst/>
              <a:gdLst/>
              <a:ahLst/>
              <a:cxnLst/>
              <a:rect r="r" b="b" t="t" l="l"/>
              <a:pathLst>
                <a:path h="97536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038" r="0" b="-6203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560832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0F3D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Aplicación Android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554480" y="6151245"/>
            <a:ext cx="4297680" cy="226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B2B33"/>
                </a:solidFill>
                <a:latin typeface="Calibri (MS)"/>
                <a:ea typeface="Calibri (MS)"/>
                <a:cs typeface="Calibri (MS)"/>
                <a:sym typeface="Calibri (MS)"/>
              </a:rPr>
              <a:t>Agenda académica, check-in emocional diario, test de estrés PSS-10 y recursos de bienestar.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583680" y="3291840"/>
            <a:ext cx="5120640" cy="5303520"/>
            <a:chOff x="0" y="0"/>
            <a:chExt cx="6827520" cy="70713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27520" cy="7071360"/>
            </a:xfrm>
            <a:custGeom>
              <a:avLst/>
              <a:gdLst/>
              <a:ahLst/>
              <a:cxnLst/>
              <a:rect r="r" b="b" t="t" l="l"/>
              <a:pathLst>
                <a:path h="7071360" w="682752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6534912" y="0"/>
                  </a:lnTo>
                  <a:cubicBezTo>
                    <a:pt x="6696583" y="0"/>
                    <a:pt x="6827520" y="131064"/>
                    <a:pt x="6827520" y="292608"/>
                  </a:cubicBezTo>
                  <a:lnTo>
                    <a:pt x="6827520" y="6778752"/>
                  </a:lnTo>
                  <a:cubicBezTo>
                    <a:pt x="6827520" y="6940423"/>
                    <a:pt x="6696456" y="7071360"/>
                    <a:pt x="6534912" y="7071360"/>
                  </a:cubicBezTo>
                  <a:lnTo>
                    <a:pt x="292608" y="7071360"/>
                  </a:lnTo>
                  <a:cubicBezTo>
                    <a:pt x="131064" y="7071360"/>
                    <a:pt x="0" y="6940296"/>
                    <a:pt x="0" y="67787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040880" y="3657600"/>
            <a:ext cx="1463040" cy="1463040"/>
            <a:chOff x="0" y="0"/>
            <a:chExt cx="1950720" cy="1950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50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">
                  <a:moveTo>
                    <a:pt x="0" y="975360"/>
                  </a:moveTo>
                  <a:cubicBezTo>
                    <a:pt x="0" y="436626"/>
                    <a:pt x="436626" y="0"/>
                    <a:pt x="975360" y="0"/>
                  </a:cubicBezTo>
                  <a:cubicBezTo>
                    <a:pt x="1514094" y="0"/>
                    <a:pt x="1950720" y="436626"/>
                    <a:pt x="1950720" y="975360"/>
                  </a:cubicBezTo>
                  <a:cubicBezTo>
                    <a:pt x="1950720" y="1514094"/>
                    <a:pt x="1514094" y="1950720"/>
                    <a:pt x="975360" y="1950720"/>
                  </a:cubicBezTo>
                  <a:cubicBezTo>
                    <a:pt x="436626" y="1950720"/>
                    <a:pt x="0" y="1514094"/>
                    <a:pt x="0" y="975360"/>
                  </a:cubicBezTo>
                  <a:close/>
                </a:path>
              </a:pathLst>
            </a:custGeom>
            <a:solidFill>
              <a:srgbClr val="F2B33D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406640" y="4023360"/>
            <a:ext cx="731520" cy="731520"/>
            <a:chOff x="0" y="0"/>
            <a:chExt cx="975360" cy="975360"/>
          </a:xfrm>
        </p:grpSpPr>
        <p:sp>
          <p:nvSpPr>
            <p:cNvPr name="Freeform 23" id="23" descr="FaDesktop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040880" y="5394960"/>
            <a:ext cx="4206240" cy="731520"/>
            <a:chOff x="0" y="0"/>
            <a:chExt cx="5608320" cy="9753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608320" cy="975360"/>
            </a:xfrm>
            <a:custGeom>
              <a:avLst/>
              <a:gdLst/>
              <a:ahLst/>
              <a:cxnLst/>
              <a:rect r="r" b="b" t="t" l="l"/>
              <a:pathLst>
                <a:path h="97536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038" r="0" b="-6203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560832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0F3D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Panel web de gestión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7040880" y="6151245"/>
            <a:ext cx="4297680" cy="226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B2B33"/>
                </a:solidFill>
                <a:latin typeface="Calibri (MS)"/>
                <a:ea typeface="Calibri (MS)"/>
                <a:cs typeface="Calibri (MS)"/>
                <a:sym typeface="Calibri (MS)"/>
              </a:rPr>
              <a:t>Para funcionarios de Bienestar y Salud: alumnos, cuestionarios, eventos y consejos.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070080" y="3291840"/>
            <a:ext cx="5120640" cy="5303520"/>
            <a:chOff x="0" y="0"/>
            <a:chExt cx="6827520" cy="70713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827520" cy="7071360"/>
            </a:xfrm>
            <a:custGeom>
              <a:avLst/>
              <a:gdLst/>
              <a:ahLst/>
              <a:cxnLst/>
              <a:rect r="r" b="b" t="t" l="l"/>
              <a:pathLst>
                <a:path h="7071360" w="682752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6534912" y="0"/>
                  </a:lnTo>
                  <a:cubicBezTo>
                    <a:pt x="6696583" y="0"/>
                    <a:pt x="6827520" y="131064"/>
                    <a:pt x="6827520" y="292608"/>
                  </a:cubicBezTo>
                  <a:lnTo>
                    <a:pt x="6827520" y="6778752"/>
                  </a:lnTo>
                  <a:cubicBezTo>
                    <a:pt x="6827520" y="6940423"/>
                    <a:pt x="6696456" y="7071360"/>
                    <a:pt x="6534912" y="7071360"/>
                  </a:cubicBezTo>
                  <a:lnTo>
                    <a:pt x="292608" y="7071360"/>
                  </a:lnTo>
                  <a:cubicBezTo>
                    <a:pt x="131064" y="7071360"/>
                    <a:pt x="0" y="6940296"/>
                    <a:pt x="0" y="67787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527280" y="3657600"/>
            <a:ext cx="1463040" cy="1463040"/>
            <a:chOff x="0" y="0"/>
            <a:chExt cx="1950720" cy="19507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50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">
                  <a:moveTo>
                    <a:pt x="0" y="975360"/>
                  </a:moveTo>
                  <a:cubicBezTo>
                    <a:pt x="0" y="436626"/>
                    <a:pt x="436626" y="0"/>
                    <a:pt x="975360" y="0"/>
                  </a:cubicBezTo>
                  <a:cubicBezTo>
                    <a:pt x="1514094" y="0"/>
                    <a:pt x="1950720" y="436626"/>
                    <a:pt x="1950720" y="975360"/>
                  </a:cubicBezTo>
                  <a:cubicBezTo>
                    <a:pt x="1950720" y="1514094"/>
                    <a:pt x="1514094" y="1950720"/>
                    <a:pt x="975360" y="1950720"/>
                  </a:cubicBezTo>
                  <a:cubicBezTo>
                    <a:pt x="436626" y="1950720"/>
                    <a:pt x="0" y="1514094"/>
                    <a:pt x="0" y="975360"/>
                  </a:cubicBezTo>
                  <a:close/>
                </a:path>
              </a:pathLst>
            </a:custGeom>
            <a:solidFill>
              <a:srgbClr val="E76F51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893040" y="4023360"/>
            <a:ext cx="731520" cy="731520"/>
            <a:chOff x="0" y="0"/>
            <a:chExt cx="975360" cy="975360"/>
          </a:xfrm>
        </p:grpSpPr>
        <p:sp>
          <p:nvSpPr>
            <p:cNvPr name="Freeform 33" id="33" descr="FaDatabase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527280" y="5394960"/>
            <a:ext cx="4206240" cy="731520"/>
            <a:chOff x="0" y="0"/>
            <a:chExt cx="5608320" cy="9753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608320" cy="975360"/>
            </a:xfrm>
            <a:custGeom>
              <a:avLst/>
              <a:gdLst/>
              <a:ahLst/>
              <a:cxnLst/>
              <a:rect r="r" b="b" t="t" l="l"/>
              <a:pathLst>
                <a:path h="97536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038" r="0" b="-6203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560832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0F3D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 en la nube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2527280" y="6151245"/>
            <a:ext cx="4297680" cy="226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B2B33"/>
                </a:solidFill>
                <a:latin typeface="Calibri (MS)"/>
                <a:ea typeface="Calibri (MS)"/>
                <a:cs typeface="Calibri (MS)"/>
                <a:sym typeface="Calibri (MS)"/>
              </a:rPr>
              <a:t>PostgreSQL con Row Level Security, autenticación y funciones serverless en Supabase.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733520" y="9517380"/>
            <a:ext cx="7315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7C8A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731520"/>
            <a:ext cx="16093440" cy="1280160"/>
            <a:chOff x="0" y="0"/>
            <a:chExt cx="2145792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79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45792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60"/>
                </a:lnSpc>
              </a:pPr>
              <a:r>
                <a:rPr lang="en-US" sz="6800" b="true">
                  <a:solidFill>
                    <a:srgbClr val="0F3D4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¿Qué hace la aplicación?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97280" y="1920240"/>
            <a:ext cx="16093440" cy="731520"/>
            <a:chOff x="0" y="0"/>
            <a:chExt cx="21457920" cy="975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457920" cy="975360"/>
            </a:xfrm>
            <a:custGeom>
              <a:avLst/>
              <a:gdLst/>
              <a:ahLst/>
              <a:cxnLst/>
              <a:rect r="r" b="b" t="t" l="l"/>
              <a:pathLst>
                <a:path h="97536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45792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5B7C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Funcionalidades principales para el estudiante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7280" y="3200400"/>
            <a:ext cx="5120640" cy="2377440"/>
            <a:chOff x="0" y="0"/>
            <a:chExt cx="6827520" cy="3169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27520" cy="3169920"/>
            </a:xfrm>
            <a:custGeom>
              <a:avLst/>
              <a:gdLst/>
              <a:ahLst/>
              <a:cxnLst/>
              <a:rect r="r" b="b" t="t" l="l"/>
              <a:pathLst>
                <a:path h="3169920" w="682752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6534912" y="0"/>
                  </a:lnTo>
                  <a:cubicBezTo>
                    <a:pt x="6696456" y="0"/>
                    <a:pt x="6827520" y="131064"/>
                    <a:pt x="6827520" y="292608"/>
                  </a:cubicBezTo>
                  <a:lnTo>
                    <a:pt x="6827520" y="2877312"/>
                  </a:lnTo>
                  <a:cubicBezTo>
                    <a:pt x="6827520" y="3038856"/>
                    <a:pt x="6696456" y="3169920"/>
                    <a:pt x="6534912" y="3169920"/>
                  </a:cubicBezTo>
                  <a:lnTo>
                    <a:pt x="292608" y="3169920"/>
                  </a:lnTo>
                  <a:cubicBezTo>
                    <a:pt x="131064" y="3169920"/>
                    <a:pt x="0" y="3038856"/>
                    <a:pt x="0" y="28773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63040" y="3749040"/>
            <a:ext cx="1280160" cy="1280160"/>
            <a:chOff x="0" y="0"/>
            <a:chExt cx="1706880" cy="17068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83080" y="4069080"/>
            <a:ext cx="640080" cy="640080"/>
            <a:chOff x="0" y="0"/>
            <a:chExt cx="853440" cy="853440"/>
          </a:xfrm>
        </p:grpSpPr>
        <p:sp>
          <p:nvSpPr>
            <p:cNvPr name="Freeform 13" id="13" descr="FaUserShield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017520" y="3474720"/>
            <a:ext cx="3017520" cy="1828800"/>
            <a:chOff x="0" y="0"/>
            <a:chExt cx="4023360" cy="2438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233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759" t="0" r="-27759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4023360" cy="2505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F3D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Autenticación y perfil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83680" y="3200400"/>
            <a:ext cx="5120640" cy="2377440"/>
            <a:chOff x="0" y="0"/>
            <a:chExt cx="6827520" cy="31699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27520" cy="3169920"/>
            </a:xfrm>
            <a:custGeom>
              <a:avLst/>
              <a:gdLst/>
              <a:ahLst/>
              <a:cxnLst/>
              <a:rect r="r" b="b" t="t" l="l"/>
              <a:pathLst>
                <a:path h="3169920" w="682752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6534912" y="0"/>
                  </a:lnTo>
                  <a:cubicBezTo>
                    <a:pt x="6696456" y="0"/>
                    <a:pt x="6827520" y="131064"/>
                    <a:pt x="6827520" y="292608"/>
                  </a:cubicBezTo>
                  <a:lnTo>
                    <a:pt x="6827520" y="2877312"/>
                  </a:lnTo>
                  <a:cubicBezTo>
                    <a:pt x="6827520" y="3038856"/>
                    <a:pt x="6696456" y="3169920"/>
                    <a:pt x="6534912" y="3169920"/>
                  </a:cubicBezTo>
                  <a:lnTo>
                    <a:pt x="292608" y="3169920"/>
                  </a:lnTo>
                  <a:cubicBezTo>
                    <a:pt x="131064" y="3169920"/>
                    <a:pt x="0" y="3038856"/>
                    <a:pt x="0" y="28773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949440" y="3749040"/>
            <a:ext cx="1280160" cy="1280160"/>
            <a:chOff x="0" y="0"/>
            <a:chExt cx="1706880" cy="17068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0F3D4C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269480" y="4069080"/>
            <a:ext cx="640080" cy="640080"/>
            <a:chOff x="0" y="0"/>
            <a:chExt cx="853440" cy="853440"/>
          </a:xfrm>
        </p:grpSpPr>
        <p:sp>
          <p:nvSpPr>
            <p:cNvPr name="Freeform 22" id="22" descr="FaChartLine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503920" y="3474720"/>
            <a:ext cx="3017520" cy="1828800"/>
            <a:chOff x="0" y="0"/>
            <a:chExt cx="4023360" cy="2438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0233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759" t="0" r="-27759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4023360" cy="2505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F3D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 con resumen semanal del ánimo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070080" y="3200400"/>
            <a:ext cx="5120640" cy="2377440"/>
            <a:chOff x="0" y="0"/>
            <a:chExt cx="6827520" cy="31699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27520" cy="3169920"/>
            </a:xfrm>
            <a:custGeom>
              <a:avLst/>
              <a:gdLst/>
              <a:ahLst/>
              <a:cxnLst/>
              <a:rect r="r" b="b" t="t" l="l"/>
              <a:pathLst>
                <a:path h="3169920" w="682752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6534912" y="0"/>
                  </a:lnTo>
                  <a:cubicBezTo>
                    <a:pt x="6696456" y="0"/>
                    <a:pt x="6827520" y="131064"/>
                    <a:pt x="6827520" y="292608"/>
                  </a:cubicBezTo>
                  <a:lnTo>
                    <a:pt x="6827520" y="2877312"/>
                  </a:lnTo>
                  <a:cubicBezTo>
                    <a:pt x="6827520" y="3038856"/>
                    <a:pt x="6696456" y="3169920"/>
                    <a:pt x="6534912" y="3169920"/>
                  </a:cubicBezTo>
                  <a:lnTo>
                    <a:pt x="292608" y="3169920"/>
                  </a:lnTo>
                  <a:cubicBezTo>
                    <a:pt x="131064" y="3169920"/>
                    <a:pt x="0" y="3038856"/>
                    <a:pt x="0" y="28773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435840" y="3749040"/>
            <a:ext cx="1280160" cy="1280160"/>
            <a:chOff x="0" y="0"/>
            <a:chExt cx="1706880" cy="17068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E76F51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755880" y="4069080"/>
            <a:ext cx="640080" cy="640080"/>
            <a:chOff x="0" y="0"/>
            <a:chExt cx="853440" cy="853440"/>
          </a:xfrm>
        </p:grpSpPr>
        <p:sp>
          <p:nvSpPr>
            <p:cNvPr name="Freeform 31" id="31" descr="FaSmile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990320" y="3474720"/>
            <a:ext cx="3017520" cy="1828800"/>
            <a:chOff x="0" y="0"/>
            <a:chExt cx="4023360" cy="2438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0233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759" t="0" r="-27759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4023360" cy="2505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F3D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Check-in emocional con historial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97280" y="5943600"/>
            <a:ext cx="5120640" cy="2377440"/>
            <a:chOff x="0" y="0"/>
            <a:chExt cx="6827520" cy="31699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827520" cy="3169920"/>
            </a:xfrm>
            <a:custGeom>
              <a:avLst/>
              <a:gdLst/>
              <a:ahLst/>
              <a:cxnLst/>
              <a:rect r="r" b="b" t="t" l="l"/>
              <a:pathLst>
                <a:path h="3169920" w="682752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6534912" y="0"/>
                  </a:lnTo>
                  <a:cubicBezTo>
                    <a:pt x="6696456" y="0"/>
                    <a:pt x="6827520" y="131064"/>
                    <a:pt x="6827520" y="292608"/>
                  </a:cubicBezTo>
                  <a:lnTo>
                    <a:pt x="6827520" y="2877312"/>
                  </a:lnTo>
                  <a:cubicBezTo>
                    <a:pt x="6827520" y="3038856"/>
                    <a:pt x="6696456" y="3169920"/>
                    <a:pt x="6534912" y="3169920"/>
                  </a:cubicBezTo>
                  <a:lnTo>
                    <a:pt x="292608" y="3169920"/>
                  </a:lnTo>
                  <a:cubicBezTo>
                    <a:pt x="131064" y="3169920"/>
                    <a:pt x="0" y="3038856"/>
                    <a:pt x="0" y="28773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463040" y="6492240"/>
            <a:ext cx="1280160" cy="1280160"/>
            <a:chOff x="0" y="0"/>
            <a:chExt cx="1706880" cy="17068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783080" y="6812280"/>
            <a:ext cx="640080" cy="640080"/>
            <a:chOff x="0" y="0"/>
            <a:chExt cx="853440" cy="853440"/>
          </a:xfrm>
        </p:grpSpPr>
        <p:sp>
          <p:nvSpPr>
            <p:cNvPr name="Freeform 40" id="40" descr="FaClipboardList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3017520" y="6217920"/>
            <a:ext cx="3017520" cy="1828800"/>
            <a:chOff x="0" y="0"/>
            <a:chExt cx="4023360" cy="2438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0233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759" t="0" r="-27759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4023360" cy="2505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F3D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 de estrés percibido (PSS-10)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583680" y="5943600"/>
            <a:ext cx="5120640" cy="2377440"/>
            <a:chOff x="0" y="0"/>
            <a:chExt cx="6827520" cy="31699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827520" cy="3169920"/>
            </a:xfrm>
            <a:custGeom>
              <a:avLst/>
              <a:gdLst/>
              <a:ahLst/>
              <a:cxnLst/>
              <a:rect r="r" b="b" t="t" l="l"/>
              <a:pathLst>
                <a:path h="3169920" w="682752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6534912" y="0"/>
                  </a:lnTo>
                  <a:cubicBezTo>
                    <a:pt x="6696456" y="0"/>
                    <a:pt x="6827520" y="131064"/>
                    <a:pt x="6827520" y="292608"/>
                  </a:cubicBezTo>
                  <a:lnTo>
                    <a:pt x="6827520" y="2877312"/>
                  </a:lnTo>
                  <a:cubicBezTo>
                    <a:pt x="6827520" y="3038856"/>
                    <a:pt x="6696456" y="3169920"/>
                    <a:pt x="6534912" y="3169920"/>
                  </a:cubicBezTo>
                  <a:lnTo>
                    <a:pt x="292608" y="3169920"/>
                  </a:lnTo>
                  <a:cubicBezTo>
                    <a:pt x="131064" y="3169920"/>
                    <a:pt x="0" y="3038856"/>
                    <a:pt x="0" y="28773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6949440" y="6492240"/>
            <a:ext cx="1280160" cy="1280160"/>
            <a:chOff x="0" y="0"/>
            <a:chExt cx="1706880" cy="17068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0F3D4C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269480" y="6812280"/>
            <a:ext cx="640080" cy="640080"/>
            <a:chOff x="0" y="0"/>
            <a:chExt cx="853440" cy="853440"/>
          </a:xfrm>
        </p:grpSpPr>
        <p:sp>
          <p:nvSpPr>
            <p:cNvPr name="Freeform 49" id="49" descr="FaCalendarAlt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503920" y="6217920"/>
            <a:ext cx="3017520" cy="1828800"/>
            <a:chOff x="0" y="0"/>
            <a:chExt cx="4023360" cy="2438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0233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759" t="0" r="-27759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66675"/>
              <a:ext cx="4023360" cy="2505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F3D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Agenda con asignaturas y eventos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070080" y="5943600"/>
            <a:ext cx="5120640" cy="2377440"/>
            <a:chOff x="0" y="0"/>
            <a:chExt cx="6827520" cy="31699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827520" cy="3169920"/>
            </a:xfrm>
            <a:custGeom>
              <a:avLst/>
              <a:gdLst/>
              <a:ahLst/>
              <a:cxnLst/>
              <a:rect r="r" b="b" t="t" l="l"/>
              <a:pathLst>
                <a:path h="3169920" w="682752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6534912" y="0"/>
                  </a:lnTo>
                  <a:cubicBezTo>
                    <a:pt x="6696456" y="0"/>
                    <a:pt x="6827520" y="131064"/>
                    <a:pt x="6827520" y="292608"/>
                  </a:cubicBezTo>
                  <a:lnTo>
                    <a:pt x="6827520" y="2877312"/>
                  </a:lnTo>
                  <a:cubicBezTo>
                    <a:pt x="6827520" y="3038856"/>
                    <a:pt x="6696456" y="3169920"/>
                    <a:pt x="6534912" y="3169920"/>
                  </a:cubicBezTo>
                  <a:lnTo>
                    <a:pt x="292608" y="3169920"/>
                  </a:lnTo>
                  <a:cubicBezTo>
                    <a:pt x="131064" y="3169920"/>
                    <a:pt x="0" y="3038856"/>
                    <a:pt x="0" y="28773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2435840" y="6492240"/>
            <a:ext cx="1280160" cy="1280160"/>
            <a:chOff x="0" y="0"/>
            <a:chExt cx="1706880" cy="17068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E76F51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2755880" y="6812280"/>
            <a:ext cx="640080" cy="640080"/>
            <a:chOff x="0" y="0"/>
            <a:chExt cx="853440" cy="853440"/>
          </a:xfrm>
        </p:grpSpPr>
        <p:sp>
          <p:nvSpPr>
            <p:cNvPr name="Freeform 58" id="58" descr="FaLifeRi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3990320" y="6217920"/>
            <a:ext cx="3017520" cy="1828800"/>
            <a:chOff x="0" y="0"/>
            <a:chExt cx="4023360" cy="24384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0233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759" t="0" r="-27759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66675"/>
              <a:ext cx="4023360" cy="2505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F3D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Recursos de crisis, disponibles sin conexión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97280" y="8778240"/>
            <a:ext cx="14630400" cy="548640"/>
            <a:chOff x="0" y="0"/>
            <a:chExt cx="19507200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9507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57150"/>
              <a:ext cx="195072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5B7C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Incluye además un tutorial de bienvenida interactivo y modo oscuro.</a:t>
              </a: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16733520" y="9517380"/>
            <a:ext cx="7315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7C8A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731520"/>
            <a:ext cx="16093440" cy="1280160"/>
            <a:chOff x="0" y="0"/>
            <a:chExt cx="2145792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79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45792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Enfoque no clínico y datos protegidos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84583" y="2730503"/>
            <a:ext cx="7889243" cy="2768603"/>
            <a:chOff x="0" y="0"/>
            <a:chExt cx="10518991" cy="36914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18902" cy="3691382"/>
            </a:xfrm>
            <a:custGeom>
              <a:avLst/>
              <a:gdLst/>
              <a:ahLst/>
              <a:cxnLst/>
              <a:rect r="r" b="b" t="t" l="l"/>
              <a:pathLst>
                <a:path h="3691382" w="10518902">
                  <a:moveTo>
                    <a:pt x="0" y="295275"/>
                  </a:moveTo>
                  <a:cubicBezTo>
                    <a:pt x="0" y="132207"/>
                    <a:pt x="132207" y="0"/>
                    <a:pt x="295275" y="0"/>
                  </a:cubicBezTo>
                  <a:lnTo>
                    <a:pt x="10223627" y="0"/>
                  </a:lnTo>
                  <a:cubicBezTo>
                    <a:pt x="10386695" y="0"/>
                    <a:pt x="10518902" y="132207"/>
                    <a:pt x="10518902" y="295275"/>
                  </a:cubicBezTo>
                  <a:lnTo>
                    <a:pt x="10518902" y="3396107"/>
                  </a:lnTo>
                  <a:cubicBezTo>
                    <a:pt x="10518902" y="3559175"/>
                    <a:pt x="10386695" y="3691382"/>
                    <a:pt x="10223627" y="3691382"/>
                  </a:cubicBezTo>
                  <a:lnTo>
                    <a:pt x="295275" y="3691382"/>
                  </a:lnTo>
                  <a:cubicBezTo>
                    <a:pt x="132207" y="3691509"/>
                    <a:pt x="0" y="3559302"/>
                    <a:pt x="0" y="3396107"/>
                  </a:cubicBezTo>
                  <a:close/>
                </a:path>
              </a:pathLst>
            </a:custGeom>
            <a:solidFill>
              <a:srgbClr val="2A9D8F">
                <a:alpha val="3922"/>
              </a:srgbClr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54480" y="3383280"/>
            <a:ext cx="1463040" cy="1463040"/>
            <a:chOff x="0" y="0"/>
            <a:chExt cx="1950720" cy="1950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50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">
                  <a:moveTo>
                    <a:pt x="0" y="975360"/>
                  </a:moveTo>
                  <a:cubicBezTo>
                    <a:pt x="0" y="436626"/>
                    <a:pt x="436626" y="0"/>
                    <a:pt x="975360" y="0"/>
                  </a:cubicBezTo>
                  <a:cubicBezTo>
                    <a:pt x="1514094" y="0"/>
                    <a:pt x="1950720" y="436626"/>
                    <a:pt x="1950720" y="975360"/>
                  </a:cubicBezTo>
                  <a:cubicBezTo>
                    <a:pt x="1950720" y="1514094"/>
                    <a:pt x="1514094" y="1950720"/>
                    <a:pt x="975360" y="1950720"/>
                  </a:cubicBezTo>
                  <a:cubicBezTo>
                    <a:pt x="436626" y="1950720"/>
                    <a:pt x="0" y="1514094"/>
                    <a:pt x="0" y="975360"/>
                  </a:cubicBezTo>
                  <a:close/>
                </a:path>
              </a:pathLst>
            </a:custGeom>
            <a:solidFill>
              <a:srgbClr val="F2B33D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920240" y="3749040"/>
            <a:ext cx="731520" cy="731520"/>
            <a:chOff x="0" y="0"/>
            <a:chExt cx="975360" cy="975360"/>
          </a:xfrm>
        </p:grpSpPr>
        <p:sp>
          <p:nvSpPr>
            <p:cNvPr name="Freeform 10" id="10" descr="FaBan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474720" y="3143250"/>
            <a:ext cx="521208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 diagnostica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474720" y="4139565"/>
            <a:ext cx="5212080" cy="1163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7FC8BE"/>
                </a:solidFill>
                <a:latin typeface="Calibri (MS)"/>
                <a:ea typeface="Calibri (MS)"/>
                <a:cs typeface="Calibri (MS)"/>
                <a:sym typeface="Calibri (MS)"/>
              </a:rPr>
              <a:t>Apoya la organización y la reflexión.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314183" y="2730503"/>
            <a:ext cx="7889243" cy="2768603"/>
            <a:chOff x="0" y="0"/>
            <a:chExt cx="10518991" cy="36914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518902" cy="3691382"/>
            </a:xfrm>
            <a:custGeom>
              <a:avLst/>
              <a:gdLst/>
              <a:ahLst/>
              <a:cxnLst/>
              <a:rect r="r" b="b" t="t" l="l"/>
              <a:pathLst>
                <a:path h="3691382" w="10518902">
                  <a:moveTo>
                    <a:pt x="0" y="295275"/>
                  </a:moveTo>
                  <a:cubicBezTo>
                    <a:pt x="0" y="132207"/>
                    <a:pt x="132207" y="0"/>
                    <a:pt x="295275" y="0"/>
                  </a:cubicBezTo>
                  <a:lnTo>
                    <a:pt x="10223627" y="0"/>
                  </a:lnTo>
                  <a:cubicBezTo>
                    <a:pt x="10386695" y="0"/>
                    <a:pt x="10518902" y="132207"/>
                    <a:pt x="10518902" y="295275"/>
                  </a:cubicBezTo>
                  <a:lnTo>
                    <a:pt x="10518902" y="3396107"/>
                  </a:lnTo>
                  <a:cubicBezTo>
                    <a:pt x="10518902" y="3559175"/>
                    <a:pt x="10386695" y="3691382"/>
                    <a:pt x="10223627" y="3691382"/>
                  </a:cubicBezTo>
                  <a:lnTo>
                    <a:pt x="295275" y="3691382"/>
                  </a:lnTo>
                  <a:cubicBezTo>
                    <a:pt x="132207" y="3691509"/>
                    <a:pt x="0" y="3559302"/>
                    <a:pt x="0" y="3396107"/>
                  </a:cubicBezTo>
                  <a:close/>
                </a:path>
              </a:pathLst>
            </a:custGeom>
            <a:solidFill>
              <a:srgbClr val="2A9D8F">
                <a:alpha val="3922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784080" y="3383280"/>
            <a:ext cx="1463040" cy="1463040"/>
            <a:chOff x="0" y="0"/>
            <a:chExt cx="1950720" cy="19507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50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">
                  <a:moveTo>
                    <a:pt x="0" y="975360"/>
                  </a:moveTo>
                  <a:cubicBezTo>
                    <a:pt x="0" y="436626"/>
                    <a:pt x="436626" y="0"/>
                    <a:pt x="975360" y="0"/>
                  </a:cubicBezTo>
                  <a:cubicBezTo>
                    <a:pt x="1514094" y="0"/>
                    <a:pt x="1950720" y="436626"/>
                    <a:pt x="1950720" y="975360"/>
                  </a:cubicBezTo>
                  <a:cubicBezTo>
                    <a:pt x="1950720" y="1514094"/>
                    <a:pt x="1514094" y="1950720"/>
                    <a:pt x="975360" y="1950720"/>
                  </a:cubicBezTo>
                  <a:cubicBezTo>
                    <a:pt x="436626" y="1950720"/>
                    <a:pt x="0" y="1514094"/>
                    <a:pt x="0" y="975360"/>
                  </a:cubicBezTo>
                  <a:close/>
                </a:path>
              </a:pathLst>
            </a:custGeom>
            <a:solidFill>
              <a:srgbClr val="F2B33D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149840" y="3749040"/>
            <a:ext cx="731520" cy="731520"/>
            <a:chOff x="0" y="0"/>
            <a:chExt cx="975360" cy="975360"/>
          </a:xfrm>
        </p:grpSpPr>
        <p:sp>
          <p:nvSpPr>
            <p:cNvPr name="Freeform 18" id="18" descr="FaUserMd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1704320" y="3143250"/>
            <a:ext cx="521208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 reemplaza la atención profesional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704320" y="4139565"/>
            <a:ext cx="5212080" cy="1163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7FC8BE"/>
                </a:solidFill>
                <a:latin typeface="Calibri (MS)"/>
                <a:ea typeface="Calibri (MS)"/>
                <a:cs typeface="Calibri (MS)"/>
                <a:sym typeface="Calibri (MS)"/>
              </a:rPr>
              <a:t>Deriva de forma voluntaria a Bienestar.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84583" y="5839463"/>
            <a:ext cx="7889243" cy="2768603"/>
            <a:chOff x="0" y="0"/>
            <a:chExt cx="10518991" cy="369147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518902" cy="3691382"/>
            </a:xfrm>
            <a:custGeom>
              <a:avLst/>
              <a:gdLst/>
              <a:ahLst/>
              <a:cxnLst/>
              <a:rect r="r" b="b" t="t" l="l"/>
              <a:pathLst>
                <a:path h="3691382" w="10518902">
                  <a:moveTo>
                    <a:pt x="0" y="295275"/>
                  </a:moveTo>
                  <a:cubicBezTo>
                    <a:pt x="0" y="132207"/>
                    <a:pt x="132207" y="0"/>
                    <a:pt x="295275" y="0"/>
                  </a:cubicBezTo>
                  <a:lnTo>
                    <a:pt x="10223627" y="0"/>
                  </a:lnTo>
                  <a:cubicBezTo>
                    <a:pt x="10386695" y="0"/>
                    <a:pt x="10518902" y="132207"/>
                    <a:pt x="10518902" y="295275"/>
                  </a:cubicBezTo>
                  <a:lnTo>
                    <a:pt x="10518902" y="3396107"/>
                  </a:lnTo>
                  <a:cubicBezTo>
                    <a:pt x="10518902" y="3559175"/>
                    <a:pt x="10386695" y="3691382"/>
                    <a:pt x="10223627" y="3691382"/>
                  </a:cubicBezTo>
                  <a:lnTo>
                    <a:pt x="295275" y="3691382"/>
                  </a:lnTo>
                  <a:cubicBezTo>
                    <a:pt x="132207" y="3691509"/>
                    <a:pt x="0" y="3559302"/>
                    <a:pt x="0" y="3396107"/>
                  </a:cubicBezTo>
                  <a:close/>
                </a:path>
              </a:pathLst>
            </a:custGeom>
            <a:solidFill>
              <a:srgbClr val="2A9D8F">
                <a:alpha val="3922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554480" y="6492240"/>
            <a:ext cx="1463040" cy="1463040"/>
            <a:chOff x="0" y="0"/>
            <a:chExt cx="1950720" cy="1950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50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">
                  <a:moveTo>
                    <a:pt x="0" y="975360"/>
                  </a:moveTo>
                  <a:cubicBezTo>
                    <a:pt x="0" y="436626"/>
                    <a:pt x="436626" y="0"/>
                    <a:pt x="975360" y="0"/>
                  </a:cubicBezTo>
                  <a:cubicBezTo>
                    <a:pt x="1514094" y="0"/>
                    <a:pt x="1950720" y="436626"/>
                    <a:pt x="1950720" y="975360"/>
                  </a:cubicBezTo>
                  <a:cubicBezTo>
                    <a:pt x="1950720" y="1514094"/>
                    <a:pt x="1514094" y="1950720"/>
                    <a:pt x="975360" y="1950720"/>
                  </a:cubicBezTo>
                  <a:cubicBezTo>
                    <a:pt x="436626" y="1950720"/>
                    <a:pt x="0" y="1514094"/>
                    <a:pt x="0" y="975360"/>
                  </a:cubicBezTo>
                  <a:close/>
                </a:path>
              </a:pathLst>
            </a:custGeom>
            <a:solidFill>
              <a:srgbClr val="F2B33D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920240" y="6858000"/>
            <a:ext cx="731520" cy="731520"/>
            <a:chOff x="0" y="0"/>
            <a:chExt cx="975360" cy="975360"/>
          </a:xfrm>
        </p:grpSpPr>
        <p:sp>
          <p:nvSpPr>
            <p:cNvPr name="Freeform 26" id="26" descr="FaPhoneSlash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3474720" y="6252210"/>
            <a:ext cx="521208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 contacta a terceros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474720" y="7248525"/>
            <a:ext cx="5212080" cy="1163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7FC8BE"/>
                </a:solidFill>
                <a:latin typeface="Calibri (MS)"/>
                <a:ea typeface="Calibri (MS)"/>
                <a:cs typeface="Calibri (MS)"/>
                <a:sym typeface="Calibri (MS)"/>
              </a:rPr>
              <a:t>Nada se envía de forma automática.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314183" y="5839463"/>
            <a:ext cx="7889243" cy="2768603"/>
            <a:chOff x="0" y="0"/>
            <a:chExt cx="10518991" cy="369147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518902" cy="3691382"/>
            </a:xfrm>
            <a:custGeom>
              <a:avLst/>
              <a:gdLst/>
              <a:ahLst/>
              <a:cxnLst/>
              <a:rect r="r" b="b" t="t" l="l"/>
              <a:pathLst>
                <a:path h="3691382" w="10518902">
                  <a:moveTo>
                    <a:pt x="0" y="295275"/>
                  </a:moveTo>
                  <a:cubicBezTo>
                    <a:pt x="0" y="132207"/>
                    <a:pt x="132207" y="0"/>
                    <a:pt x="295275" y="0"/>
                  </a:cubicBezTo>
                  <a:lnTo>
                    <a:pt x="10223627" y="0"/>
                  </a:lnTo>
                  <a:cubicBezTo>
                    <a:pt x="10386695" y="0"/>
                    <a:pt x="10518902" y="132207"/>
                    <a:pt x="10518902" y="295275"/>
                  </a:cubicBezTo>
                  <a:lnTo>
                    <a:pt x="10518902" y="3396107"/>
                  </a:lnTo>
                  <a:cubicBezTo>
                    <a:pt x="10518902" y="3559175"/>
                    <a:pt x="10386695" y="3691382"/>
                    <a:pt x="10223627" y="3691382"/>
                  </a:cubicBezTo>
                  <a:lnTo>
                    <a:pt x="295275" y="3691382"/>
                  </a:lnTo>
                  <a:cubicBezTo>
                    <a:pt x="132207" y="3691509"/>
                    <a:pt x="0" y="3559302"/>
                    <a:pt x="0" y="3396107"/>
                  </a:cubicBezTo>
                  <a:close/>
                </a:path>
              </a:pathLst>
            </a:custGeom>
            <a:solidFill>
              <a:srgbClr val="2A9D8F">
                <a:alpha val="3922"/>
              </a:srgbClr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784080" y="6492240"/>
            <a:ext cx="1463040" cy="1463040"/>
            <a:chOff x="0" y="0"/>
            <a:chExt cx="1950720" cy="19507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950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">
                  <a:moveTo>
                    <a:pt x="0" y="975360"/>
                  </a:moveTo>
                  <a:cubicBezTo>
                    <a:pt x="0" y="436626"/>
                    <a:pt x="436626" y="0"/>
                    <a:pt x="975360" y="0"/>
                  </a:cubicBezTo>
                  <a:cubicBezTo>
                    <a:pt x="1514094" y="0"/>
                    <a:pt x="1950720" y="436626"/>
                    <a:pt x="1950720" y="975360"/>
                  </a:cubicBezTo>
                  <a:cubicBezTo>
                    <a:pt x="1950720" y="1514094"/>
                    <a:pt x="1514094" y="1950720"/>
                    <a:pt x="975360" y="1950720"/>
                  </a:cubicBezTo>
                  <a:cubicBezTo>
                    <a:pt x="436626" y="1950720"/>
                    <a:pt x="0" y="1514094"/>
                    <a:pt x="0" y="975360"/>
                  </a:cubicBezTo>
                  <a:close/>
                </a:path>
              </a:pathLst>
            </a:custGeom>
            <a:solidFill>
              <a:srgbClr val="F2B33D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149840" y="6858000"/>
            <a:ext cx="731520" cy="731520"/>
            <a:chOff x="0" y="0"/>
            <a:chExt cx="975360" cy="975360"/>
          </a:xfrm>
        </p:grpSpPr>
        <p:sp>
          <p:nvSpPr>
            <p:cNvPr name="Freeform 34" id="34" descr="FaLock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1704320" y="6252210"/>
            <a:ext cx="521208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Datos sensibles protegidos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704320" y="7248525"/>
            <a:ext cx="5212080" cy="1163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7FC8BE"/>
                </a:solidFill>
                <a:latin typeface="Calibri (MS)"/>
                <a:ea typeface="Calibri (MS)"/>
                <a:cs typeface="Calibri (MS)"/>
                <a:sym typeface="Calibri (MS)"/>
              </a:rPr>
              <a:t>Aislamiento por usuario, cifrado local y Ley N° 21.719.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731520"/>
            <a:ext cx="16093440" cy="1280160"/>
            <a:chOff x="0" y="0"/>
            <a:chExt cx="2145792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79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45792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60"/>
                </a:lnSpc>
              </a:pPr>
              <a:r>
                <a:rPr lang="en-US" sz="6800" b="true">
                  <a:solidFill>
                    <a:srgbClr val="0F3D4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Objetivos del proyecto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97280" y="2377440"/>
            <a:ext cx="16093440" cy="2194560"/>
            <a:chOff x="0" y="0"/>
            <a:chExt cx="21457920" cy="2926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457921" cy="2926080"/>
            </a:xfrm>
            <a:custGeom>
              <a:avLst/>
              <a:gdLst/>
              <a:ahLst/>
              <a:cxnLst/>
              <a:rect r="r" b="b" t="t" l="l"/>
              <a:pathLst>
                <a:path h="2926080" w="21457921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21165313" y="0"/>
                  </a:lnTo>
                  <a:cubicBezTo>
                    <a:pt x="21326856" y="0"/>
                    <a:pt x="21457921" y="131064"/>
                    <a:pt x="21457921" y="292608"/>
                  </a:cubicBezTo>
                  <a:lnTo>
                    <a:pt x="21457921" y="2633472"/>
                  </a:lnTo>
                  <a:cubicBezTo>
                    <a:pt x="21457921" y="2795016"/>
                    <a:pt x="21326856" y="2926080"/>
                    <a:pt x="21165313" y="2926080"/>
                  </a:cubicBezTo>
                  <a:lnTo>
                    <a:pt x="292608" y="2926080"/>
                  </a:lnTo>
                  <a:cubicBezTo>
                    <a:pt x="131064" y="2926080"/>
                    <a:pt x="0" y="2795016"/>
                    <a:pt x="0" y="2633472"/>
                  </a:cubicBezTo>
                  <a:close/>
                </a:path>
              </a:pathLst>
            </a:custGeom>
            <a:solidFill>
              <a:srgbClr val="0F3D4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54480" y="2560320"/>
            <a:ext cx="15179040" cy="548640"/>
            <a:chOff x="0" y="0"/>
            <a:chExt cx="2023872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238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9086" r="0" b="-48908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2387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400">
                  <a:solidFill>
                    <a:srgbClr val="F2B3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 GENERAL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554480" y="3042285"/>
            <a:ext cx="15179040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Desarrollar una aplicación de agenda estudiantil con un módulo de apoyo a la salud mental, que permita gestionar la carga académica y hacer seguimiento del bienestar emocional.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97280" y="5029200"/>
            <a:ext cx="768096" cy="768096"/>
            <a:chOff x="0" y="0"/>
            <a:chExt cx="1024128" cy="10241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97280" y="5029200"/>
            <a:ext cx="768096" cy="768096"/>
            <a:chOff x="0" y="0"/>
            <a:chExt cx="1024128" cy="10241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024128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103120" y="4974336"/>
            <a:ext cx="6766560" cy="877824"/>
            <a:chOff x="0" y="0"/>
            <a:chExt cx="9022080" cy="11704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0220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197" r="0" b="-10019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9022080" cy="1237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B2B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Identificar necesidades con encuestas y entrevistas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7280" y="6089904"/>
            <a:ext cx="768096" cy="768096"/>
            <a:chOff x="0" y="0"/>
            <a:chExt cx="1024128" cy="10241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97280" y="6089904"/>
            <a:ext cx="768096" cy="768096"/>
            <a:chOff x="0" y="0"/>
            <a:chExt cx="1024128" cy="10241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1024128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103120" y="6035040"/>
            <a:ext cx="6766560" cy="877824"/>
            <a:chOff x="0" y="0"/>
            <a:chExt cx="9022080" cy="117043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0220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197" r="0" b="-10019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9022080" cy="1237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B2B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Definir las funcionalidades primordiales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97280" y="7150608"/>
            <a:ext cx="768096" cy="768096"/>
            <a:chOff x="0" y="0"/>
            <a:chExt cx="1024128" cy="102412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97280" y="7150608"/>
            <a:ext cx="768096" cy="768096"/>
            <a:chOff x="0" y="0"/>
            <a:chExt cx="1024128" cy="102412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1024128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103120" y="7095744"/>
            <a:ext cx="6766560" cy="877824"/>
            <a:chOff x="0" y="0"/>
            <a:chExt cx="9022080" cy="117043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0220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197" r="0" b="-10019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9022080" cy="1237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B2B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Diseñar wireframes y diagramas de flujo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97280" y="8211312"/>
            <a:ext cx="768096" cy="768096"/>
            <a:chOff x="0" y="0"/>
            <a:chExt cx="1024128" cy="102412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97280" y="8211312"/>
            <a:ext cx="768096" cy="768096"/>
            <a:chOff x="0" y="0"/>
            <a:chExt cx="1024128" cy="102412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1024128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103120" y="8156448"/>
            <a:ext cx="6766560" cy="877824"/>
            <a:chOff x="0" y="0"/>
            <a:chExt cx="9022080" cy="117043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0220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197" r="0" b="-10019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66675"/>
              <a:ext cx="9022080" cy="1237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B2B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Elaborar un prototipo interactivo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326880" y="5029200"/>
            <a:ext cx="768096" cy="768096"/>
            <a:chOff x="0" y="0"/>
            <a:chExt cx="1024128" cy="102412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326880" y="5029200"/>
            <a:ext cx="768096" cy="768096"/>
            <a:chOff x="0" y="0"/>
            <a:chExt cx="1024128" cy="102412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66675"/>
              <a:ext cx="1024128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332720" y="4974336"/>
            <a:ext cx="6766560" cy="877824"/>
            <a:chOff x="0" y="0"/>
            <a:chExt cx="9022080" cy="117043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0220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197" r="0" b="-10019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66675"/>
              <a:ext cx="9022080" cy="1237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B2B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Implementar agenda, registro emocional y recursos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326880" y="6089904"/>
            <a:ext cx="768096" cy="768096"/>
            <a:chOff x="0" y="0"/>
            <a:chExt cx="1024128" cy="102412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326880" y="6089904"/>
            <a:ext cx="768096" cy="768096"/>
            <a:chOff x="0" y="0"/>
            <a:chExt cx="1024128" cy="102412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66675"/>
              <a:ext cx="1024128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332720" y="6035040"/>
            <a:ext cx="6766560" cy="877824"/>
            <a:chOff x="0" y="0"/>
            <a:chExt cx="9022080" cy="117043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0220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197" r="0" b="-10019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9022080" cy="1237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B2B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Implementar alertas tempranas (acotadas)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326880" y="7150608"/>
            <a:ext cx="768096" cy="768096"/>
            <a:chOff x="0" y="0"/>
            <a:chExt cx="1024128" cy="102412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326880" y="7150608"/>
            <a:ext cx="768096" cy="768096"/>
            <a:chOff x="0" y="0"/>
            <a:chExt cx="1024128" cy="102412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66675"/>
              <a:ext cx="1024128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332720" y="7095744"/>
            <a:ext cx="6766560" cy="877824"/>
            <a:chOff x="0" y="0"/>
            <a:chExt cx="9022080" cy="117043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0220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197" r="0" b="-10019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66675"/>
              <a:ext cx="9022080" cy="1237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B2B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Validar con estudiantes y mejorar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6733520" y="9517380"/>
            <a:ext cx="7315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7C8A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731520"/>
            <a:ext cx="16093440" cy="1280160"/>
            <a:chOff x="0" y="0"/>
            <a:chExt cx="2145792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79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45792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60"/>
                </a:lnSpc>
              </a:pPr>
              <a:r>
                <a:rPr lang="en-US" sz="6800" b="true">
                  <a:solidFill>
                    <a:srgbClr val="0F3D4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El equipo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97280" y="1920240"/>
            <a:ext cx="16093440" cy="731520"/>
            <a:chOff x="0" y="0"/>
            <a:chExt cx="21457920" cy="975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457920" cy="975360"/>
            </a:xfrm>
            <a:custGeom>
              <a:avLst/>
              <a:gdLst/>
              <a:ahLst/>
              <a:cxnLst/>
              <a:rect r="r" b="b" t="t" l="l"/>
              <a:pathLst>
                <a:path h="97536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45792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5B7C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Roles complementarios, trabajo en paralelo con ramas y pull requests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7280" y="3291840"/>
            <a:ext cx="5120640" cy="5669280"/>
            <a:chOff x="0" y="0"/>
            <a:chExt cx="6827520" cy="7559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27520" cy="7559039"/>
            </a:xfrm>
            <a:custGeom>
              <a:avLst/>
              <a:gdLst/>
              <a:ahLst/>
              <a:cxnLst/>
              <a:rect r="r" b="b" t="t" l="l"/>
              <a:pathLst>
                <a:path h="7559039" w="682752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6534912" y="0"/>
                  </a:lnTo>
                  <a:cubicBezTo>
                    <a:pt x="6696583" y="0"/>
                    <a:pt x="6827520" y="131064"/>
                    <a:pt x="6827520" y="292608"/>
                  </a:cubicBezTo>
                  <a:lnTo>
                    <a:pt x="6827520" y="7266432"/>
                  </a:lnTo>
                  <a:cubicBezTo>
                    <a:pt x="6827520" y="7428102"/>
                    <a:pt x="6696456" y="7559039"/>
                    <a:pt x="6534912" y="7559039"/>
                  </a:cubicBezTo>
                  <a:lnTo>
                    <a:pt x="292608" y="7559039"/>
                  </a:lnTo>
                  <a:cubicBezTo>
                    <a:pt x="131064" y="7559040"/>
                    <a:pt x="0" y="7427976"/>
                    <a:pt x="0" y="72664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54480" y="3657600"/>
            <a:ext cx="1280160" cy="1280160"/>
            <a:chOff x="0" y="0"/>
            <a:chExt cx="1706880" cy="17068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874520" y="3977640"/>
            <a:ext cx="640080" cy="640080"/>
            <a:chOff x="0" y="0"/>
            <a:chExt cx="853440" cy="853440"/>
          </a:xfrm>
        </p:grpSpPr>
        <p:sp>
          <p:nvSpPr>
            <p:cNvPr name="Freeform 13" id="13" descr="FaUser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017520" y="3657600"/>
            <a:ext cx="3108960" cy="731520"/>
            <a:chOff x="0" y="0"/>
            <a:chExt cx="4145280" cy="975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45280" cy="975360"/>
            </a:xfrm>
            <a:custGeom>
              <a:avLst/>
              <a:gdLst/>
              <a:ahLst/>
              <a:cxnLst/>
              <a:rect r="r" b="b" t="t" l="l"/>
              <a:pathLst>
                <a:path h="97536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414528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F3D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Hans Mancilla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3017520" y="4351020"/>
            <a:ext cx="3108960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7C8A"/>
                </a:solidFill>
                <a:latin typeface="Calibri (MS)"/>
                <a:ea typeface="Calibri (MS)"/>
                <a:cs typeface="Calibri (MS)"/>
                <a:sym typeface="Calibri (MS)"/>
              </a:rPr>
              <a:t>Scrum Master y desarrollador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54480" y="5520690"/>
            <a:ext cx="4297680" cy="325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B33"/>
                </a:solidFill>
                <a:latin typeface="Calibri (MS)"/>
                <a:ea typeface="Calibri (MS)"/>
                <a:cs typeface="Calibri (MS)"/>
                <a:sym typeface="Calibri (MS)"/>
              </a:rPr>
              <a:t>Modelamiento de la base de datos y traspaso a Supabase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B33"/>
                </a:solidFill>
                <a:latin typeface="Calibri (MS)"/>
                <a:ea typeface="Calibri (MS)"/>
                <a:cs typeface="Calibri (MS)"/>
                <a:sym typeface="Calibri (MS)"/>
              </a:rPr>
              <a:t>Rediseño de la app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B33"/>
                </a:solidFill>
                <a:latin typeface="Calibri (MS)"/>
                <a:ea typeface="Calibri (MS)"/>
                <a:cs typeface="Calibri (MS)"/>
                <a:sym typeface="Calibri (MS)"/>
              </a:rPr>
              <a:t>Módulo de tests emocionales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583680" y="3291840"/>
            <a:ext cx="5120640" cy="5669280"/>
            <a:chOff x="0" y="0"/>
            <a:chExt cx="6827520" cy="7559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27520" cy="7559039"/>
            </a:xfrm>
            <a:custGeom>
              <a:avLst/>
              <a:gdLst/>
              <a:ahLst/>
              <a:cxnLst/>
              <a:rect r="r" b="b" t="t" l="l"/>
              <a:pathLst>
                <a:path h="7559039" w="682752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6534912" y="0"/>
                  </a:lnTo>
                  <a:cubicBezTo>
                    <a:pt x="6696583" y="0"/>
                    <a:pt x="6827520" y="131064"/>
                    <a:pt x="6827520" y="292608"/>
                  </a:cubicBezTo>
                  <a:lnTo>
                    <a:pt x="6827520" y="7266432"/>
                  </a:lnTo>
                  <a:cubicBezTo>
                    <a:pt x="6827520" y="7428102"/>
                    <a:pt x="6696456" y="7559039"/>
                    <a:pt x="6534912" y="7559039"/>
                  </a:cubicBezTo>
                  <a:lnTo>
                    <a:pt x="292608" y="7559039"/>
                  </a:lnTo>
                  <a:cubicBezTo>
                    <a:pt x="131064" y="7559040"/>
                    <a:pt x="0" y="7427976"/>
                    <a:pt x="0" y="72664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040880" y="3657600"/>
            <a:ext cx="1280160" cy="1280160"/>
            <a:chOff x="0" y="0"/>
            <a:chExt cx="1706880" cy="17068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F2B33D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360920" y="3977640"/>
            <a:ext cx="640080" cy="640080"/>
            <a:chOff x="0" y="0"/>
            <a:chExt cx="853440" cy="853440"/>
          </a:xfrm>
        </p:grpSpPr>
        <p:sp>
          <p:nvSpPr>
            <p:cNvPr name="Freeform 24" id="24" descr="FaUser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503920" y="3657600"/>
            <a:ext cx="3108960" cy="731520"/>
            <a:chOff x="0" y="0"/>
            <a:chExt cx="4145280" cy="9753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145280" cy="975360"/>
            </a:xfrm>
            <a:custGeom>
              <a:avLst/>
              <a:gdLst/>
              <a:ahLst/>
              <a:cxnLst/>
              <a:rect r="r" b="b" t="t" l="l"/>
              <a:pathLst>
                <a:path h="97536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414528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F3D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Gustavo Roldán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8503920" y="4351020"/>
            <a:ext cx="3108960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7C8A"/>
                </a:solidFill>
                <a:latin typeface="Calibri (MS)"/>
                <a:ea typeface="Calibri (MS)"/>
                <a:cs typeface="Calibri (MS)"/>
                <a:sym typeface="Calibri (MS)"/>
              </a:rPr>
              <a:t>Product Owner y UX/UI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040880" y="5520690"/>
            <a:ext cx="4297680" cy="325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B33"/>
                </a:solidFill>
                <a:latin typeface="Calibri (MS)"/>
                <a:ea typeface="Calibri (MS)"/>
                <a:cs typeface="Calibri (MS)"/>
                <a:sym typeface="Calibri (MS)"/>
              </a:rPr>
              <a:t>Autenticación y perfil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B33"/>
                </a:solidFill>
                <a:latin typeface="Calibri (MS)"/>
                <a:ea typeface="Calibri (MS)"/>
                <a:cs typeface="Calibri (MS)"/>
                <a:sym typeface="Calibri (MS)"/>
              </a:rPr>
              <a:t>Agenda y tutorial de bienvenida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B33"/>
                </a:solidFill>
                <a:latin typeface="Calibri (MS)"/>
                <a:ea typeface="Calibri (MS)"/>
                <a:cs typeface="Calibri (MS)"/>
                <a:sym typeface="Calibri (MS)"/>
              </a:rPr>
              <a:t>Check-in y dashboard con modo oscuro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070080" y="3291840"/>
            <a:ext cx="5120640" cy="5669280"/>
            <a:chOff x="0" y="0"/>
            <a:chExt cx="6827520" cy="75590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827520" cy="7559039"/>
            </a:xfrm>
            <a:custGeom>
              <a:avLst/>
              <a:gdLst/>
              <a:ahLst/>
              <a:cxnLst/>
              <a:rect r="r" b="b" t="t" l="l"/>
              <a:pathLst>
                <a:path h="7559039" w="682752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6534912" y="0"/>
                  </a:lnTo>
                  <a:cubicBezTo>
                    <a:pt x="6696583" y="0"/>
                    <a:pt x="6827520" y="131064"/>
                    <a:pt x="6827520" y="292608"/>
                  </a:cubicBezTo>
                  <a:lnTo>
                    <a:pt x="6827520" y="7266432"/>
                  </a:lnTo>
                  <a:cubicBezTo>
                    <a:pt x="6827520" y="7428102"/>
                    <a:pt x="6696456" y="7559039"/>
                    <a:pt x="6534912" y="7559039"/>
                  </a:cubicBezTo>
                  <a:lnTo>
                    <a:pt x="292608" y="7559039"/>
                  </a:lnTo>
                  <a:cubicBezTo>
                    <a:pt x="131064" y="7559040"/>
                    <a:pt x="0" y="7427976"/>
                    <a:pt x="0" y="72664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527280" y="3657600"/>
            <a:ext cx="1280160" cy="1280160"/>
            <a:chOff x="0" y="0"/>
            <a:chExt cx="1706880" cy="17068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E76F51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847320" y="3977640"/>
            <a:ext cx="640080" cy="640080"/>
            <a:chOff x="0" y="0"/>
            <a:chExt cx="853440" cy="853440"/>
          </a:xfrm>
        </p:grpSpPr>
        <p:sp>
          <p:nvSpPr>
            <p:cNvPr name="Freeform 35" id="35" descr="FaUser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3990320" y="3657600"/>
            <a:ext cx="3108960" cy="731520"/>
            <a:chOff x="0" y="0"/>
            <a:chExt cx="4145280" cy="9753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145280" cy="975360"/>
            </a:xfrm>
            <a:custGeom>
              <a:avLst/>
              <a:gdLst/>
              <a:ahLst/>
              <a:cxnLst/>
              <a:rect r="r" b="b" t="t" l="l"/>
              <a:pathLst>
                <a:path h="97536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66675"/>
              <a:ext cx="414528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F3D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Nicolás Hernández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3990320" y="4351020"/>
            <a:ext cx="3108960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7C8A"/>
                </a:solidFill>
                <a:latin typeface="Calibri (MS)"/>
                <a:ea typeface="Calibri (MS)"/>
                <a:cs typeface="Calibri (MS)"/>
                <a:sym typeface="Calibri (MS)"/>
              </a:rPr>
              <a:t>Desarrollador y QA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527280" y="5520690"/>
            <a:ext cx="4297680" cy="325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B33"/>
                </a:solidFill>
                <a:latin typeface="Calibri (MS)"/>
                <a:ea typeface="Calibri (MS)"/>
                <a:cs typeface="Calibri (MS)"/>
                <a:sym typeface="Calibri (MS)"/>
              </a:rPr>
              <a:t>Backend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B33"/>
                </a:solidFill>
                <a:latin typeface="Calibri (MS)"/>
                <a:ea typeface="Calibri (MS)"/>
                <a:cs typeface="Calibri (MS)"/>
                <a:sym typeface="Calibri (MS)"/>
              </a:rPr>
              <a:t>Integración continua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B33"/>
                </a:solidFill>
                <a:latin typeface="Calibri (MS)"/>
                <a:ea typeface="Calibri (MS)"/>
                <a:cs typeface="Calibri (MS)"/>
                <a:sym typeface="Calibri (MS)"/>
              </a:rPr>
              <a:t>Pruebas y control de calidad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733520" y="9517380"/>
            <a:ext cx="7315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7C8A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731520"/>
            <a:ext cx="16093440" cy="1280160"/>
            <a:chOff x="0" y="0"/>
            <a:chExt cx="2145792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79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45792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60"/>
                </a:lnSpc>
              </a:pPr>
              <a:r>
                <a:rPr lang="en-US" sz="6800" b="true">
                  <a:solidFill>
                    <a:srgbClr val="0F3D4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Estado de avance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97280" y="1920240"/>
            <a:ext cx="16093440" cy="731520"/>
            <a:chOff x="0" y="0"/>
            <a:chExt cx="21457920" cy="975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457920" cy="975360"/>
            </a:xfrm>
            <a:custGeom>
              <a:avLst/>
              <a:gdLst/>
              <a:ahLst/>
              <a:cxnLst/>
              <a:rect r="r" b="b" t="t" l="l"/>
              <a:pathLst>
                <a:path h="97536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45792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5B7C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Qué hemos logrado hasta ahora</a:t>
              </a:r>
            </a:p>
          </p:txBody>
        </p:sp>
      </p:grpSp>
      <p:sp>
        <p:nvSpPr>
          <p:cNvPr name="AutoShape 8" id="8"/>
          <p:cNvSpPr/>
          <p:nvPr/>
        </p:nvSpPr>
        <p:spPr>
          <a:xfrm rot="18840">
            <a:off x="2345607" y="3643312"/>
            <a:ext cx="11585115" cy="0"/>
          </a:xfrm>
          <a:prstGeom prst="line">
            <a:avLst/>
          </a:prstGeom>
          <a:ln cap="rnd" w="28575">
            <a:solidFill>
              <a:srgbClr val="7FC8B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2377440" y="3108960"/>
            <a:ext cx="1097280" cy="1097280"/>
            <a:chOff x="0" y="0"/>
            <a:chExt cx="1463040" cy="14630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377440" y="3108960"/>
            <a:ext cx="1097280" cy="1097280"/>
            <a:chOff x="0" y="0"/>
            <a:chExt cx="1463040" cy="1463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46304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97280" y="4572000"/>
            <a:ext cx="5120640" cy="4389120"/>
            <a:chOff x="0" y="0"/>
            <a:chExt cx="6827520" cy="58521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27520" cy="5852160"/>
            </a:xfrm>
            <a:custGeom>
              <a:avLst/>
              <a:gdLst/>
              <a:ahLst/>
              <a:cxnLst/>
              <a:rect r="r" b="b" t="t" l="l"/>
              <a:pathLst>
                <a:path h="5852160" w="682752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6534912" y="0"/>
                  </a:lnTo>
                  <a:cubicBezTo>
                    <a:pt x="6696456" y="0"/>
                    <a:pt x="6827520" y="131064"/>
                    <a:pt x="6827520" y="292608"/>
                  </a:cubicBezTo>
                  <a:lnTo>
                    <a:pt x="6827520" y="5559552"/>
                  </a:lnTo>
                  <a:cubicBezTo>
                    <a:pt x="6827520" y="5721096"/>
                    <a:pt x="6696456" y="5852160"/>
                    <a:pt x="6534912" y="5852160"/>
                  </a:cubicBezTo>
                  <a:lnTo>
                    <a:pt x="292608" y="5852160"/>
                  </a:lnTo>
                  <a:cubicBezTo>
                    <a:pt x="131064" y="5852160"/>
                    <a:pt x="0" y="5721096"/>
                    <a:pt x="0" y="55595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63040" y="4754880"/>
            <a:ext cx="4389120" cy="548640"/>
            <a:chOff x="0" y="0"/>
            <a:chExt cx="585216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58521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399">
                  <a:solidFill>
                    <a:srgbClr val="2A9D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FASE 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63040" y="5303520"/>
            <a:ext cx="4389120" cy="731520"/>
            <a:chOff x="0" y="0"/>
            <a:chExt cx="5852160" cy="975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852160" cy="975360"/>
            </a:xfrm>
            <a:custGeom>
              <a:avLst/>
              <a:gdLst/>
              <a:ahLst/>
              <a:cxnLst/>
              <a:rect r="r" b="b" t="t" l="l"/>
              <a:pathLst>
                <a:path h="9753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58521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0F3D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Levantamiento y diseño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463040" y="6160770"/>
            <a:ext cx="4480560" cy="2617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B33"/>
                </a:solidFill>
                <a:latin typeface="Calibri (MS)"/>
                <a:ea typeface="Calibri (MS)"/>
                <a:cs typeface="Calibri (MS)"/>
                <a:sym typeface="Calibri (MS)"/>
              </a:rPr>
              <a:t>Encuesta (14 respuestas)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B33"/>
                </a:solidFill>
                <a:latin typeface="Calibri (MS)"/>
                <a:ea typeface="Calibri (MS)"/>
                <a:cs typeface="Calibri (MS)"/>
                <a:sym typeface="Calibri (MS)"/>
              </a:rPr>
              <a:t>Entrevista a un psicólogo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B33"/>
                </a:solidFill>
                <a:latin typeface="Calibri (MS)"/>
                <a:ea typeface="Calibri (MS)"/>
                <a:cs typeface="Calibri (MS)"/>
                <a:sym typeface="Calibri (MS)"/>
              </a:rPr>
              <a:t>Prototipo en Stitch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863840" y="3108960"/>
            <a:ext cx="1097280" cy="1097280"/>
            <a:chOff x="0" y="0"/>
            <a:chExt cx="1463040" cy="1463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863840" y="3108960"/>
            <a:ext cx="1097280" cy="1097280"/>
            <a:chOff x="0" y="0"/>
            <a:chExt cx="1463040" cy="14630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146304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583680" y="4572000"/>
            <a:ext cx="5120640" cy="4389120"/>
            <a:chOff x="0" y="0"/>
            <a:chExt cx="6827520" cy="58521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827520" cy="5852160"/>
            </a:xfrm>
            <a:custGeom>
              <a:avLst/>
              <a:gdLst/>
              <a:ahLst/>
              <a:cxnLst/>
              <a:rect r="r" b="b" t="t" l="l"/>
              <a:pathLst>
                <a:path h="5852160" w="682752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6534912" y="0"/>
                  </a:lnTo>
                  <a:cubicBezTo>
                    <a:pt x="6696456" y="0"/>
                    <a:pt x="6827520" y="131064"/>
                    <a:pt x="6827520" y="292608"/>
                  </a:cubicBezTo>
                  <a:lnTo>
                    <a:pt x="6827520" y="5559552"/>
                  </a:lnTo>
                  <a:cubicBezTo>
                    <a:pt x="6827520" y="5721096"/>
                    <a:pt x="6696456" y="5852160"/>
                    <a:pt x="6534912" y="5852160"/>
                  </a:cubicBezTo>
                  <a:lnTo>
                    <a:pt x="292608" y="5852160"/>
                  </a:lnTo>
                  <a:cubicBezTo>
                    <a:pt x="131064" y="5852160"/>
                    <a:pt x="0" y="5721096"/>
                    <a:pt x="0" y="55595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949440" y="4754880"/>
            <a:ext cx="4389120" cy="548640"/>
            <a:chOff x="0" y="0"/>
            <a:chExt cx="585216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58521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399">
                  <a:solidFill>
                    <a:srgbClr val="2A9D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FASE 2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949440" y="5303520"/>
            <a:ext cx="4389120" cy="731520"/>
            <a:chOff x="0" y="0"/>
            <a:chExt cx="5852160" cy="9753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852160" cy="975360"/>
            </a:xfrm>
            <a:custGeom>
              <a:avLst/>
              <a:gdLst/>
              <a:ahLst/>
              <a:cxnLst/>
              <a:rect r="r" b="b" t="t" l="l"/>
              <a:pathLst>
                <a:path h="9753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58521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0F3D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Desarrollo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6949440" y="6160770"/>
            <a:ext cx="4480560" cy="2617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B33"/>
                </a:solidFill>
                <a:latin typeface="Calibri (MS)"/>
                <a:ea typeface="Calibri (MS)"/>
                <a:cs typeface="Calibri (MS)"/>
                <a:sym typeface="Calibri (MS)"/>
              </a:rPr>
              <a:t>Login y registro con Supabase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B33"/>
                </a:solidFill>
                <a:latin typeface="Calibri (MS)"/>
                <a:ea typeface="Calibri (MS)"/>
                <a:cs typeface="Calibri (MS)"/>
                <a:sym typeface="Calibri (MS)"/>
              </a:rPr>
              <a:t>Agenda, check-in y dashboard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B33"/>
                </a:solidFill>
                <a:latin typeface="Calibri (MS)"/>
                <a:ea typeface="Calibri (MS)"/>
                <a:cs typeface="Calibri (MS)"/>
                <a:sym typeface="Calibri (MS)"/>
              </a:rPr>
              <a:t>Tests emocionales y tutorial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3350240" y="3108960"/>
            <a:ext cx="1097280" cy="1097280"/>
            <a:chOff x="0" y="0"/>
            <a:chExt cx="1463040" cy="14630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F2B33D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350240" y="3108960"/>
            <a:ext cx="1097280" cy="1097280"/>
            <a:chOff x="0" y="0"/>
            <a:chExt cx="1463040" cy="14630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66675"/>
              <a:ext cx="146304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F3D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070080" y="4572000"/>
            <a:ext cx="5120640" cy="4389120"/>
            <a:chOff x="0" y="0"/>
            <a:chExt cx="6827520" cy="58521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827520" cy="5852160"/>
            </a:xfrm>
            <a:custGeom>
              <a:avLst/>
              <a:gdLst/>
              <a:ahLst/>
              <a:cxnLst/>
              <a:rect r="r" b="b" t="t" l="l"/>
              <a:pathLst>
                <a:path h="5852160" w="682752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6534912" y="0"/>
                  </a:lnTo>
                  <a:cubicBezTo>
                    <a:pt x="6696456" y="0"/>
                    <a:pt x="6827520" y="131064"/>
                    <a:pt x="6827520" y="292608"/>
                  </a:cubicBezTo>
                  <a:lnTo>
                    <a:pt x="6827520" y="5559552"/>
                  </a:lnTo>
                  <a:cubicBezTo>
                    <a:pt x="6827520" y="5721096"/>
                    <a:pt x="6696456" y="5852160"/>
                    <a:pt x="6534912" y="5852160"/>
                  </a:cubicBezTo>
                  <a:lnTo>
                    <a:pt x="292608" y="5852160"/>
                  </a:lnTo>
                  <a:cubicBezTo>
                    <a:pt x="131064" y="5852160"/>
                    <a:pt x="0" y="5721096"/>
                    <a:pt x="0" y="55595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435840" y="4754880"/>
            <a:ext cx="4389120" cy="548640"/>
            <a:chOff x="0" y="0"/>
            <a:chExt cx="585216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58521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399">
                  <a:solidFill>
                    <a:srgbClr val="2A9D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SIGUIENTE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435840" y="5303520"/>
            <a:ext cx="4389120" cy="731520"/>
            <a:chOff x="0" y="0"/>
            <a:chExt cx="5852160" cy="9753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852160" cy="975360"/>
            </a:xfrm>
            <a:custGeom>
              <a:avLst/>
              <a:gdLst/>
              <a:ahLst/>
              <a:cxnLst/>
              <a:rect r="r" b="b" t="t" l="l"/>
              <a:pathLst>
                <a:path h="9753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66675"/>
              <a:ext cx="58521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0F3D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Validación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2435840" y="6160770"/>
            <a:ext cx="4480560" cy="2617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B33"/>
                </a:solidFill>
                <a:latin typeface="Calibri (MS)"/>
                <a:ea typeface="Calibri (MS)"/>
                <a:cs typeface="Calibri (MS)"/>
                <a:sym typeface="Calibri (MS)"/>
              </a:rPr>
              <a:t>Pruebas en Android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B33"/>
                </a:solidFill>
                <a:latin typeface="Calibri (MS)"/>
                <a:ea typeface="Calibri (MS)"/>
                <a:cs typeface="Calibri (MS)"/>
                <a:sym typeface="Calibri (MS)"/>
              </a:rPr>
              <a:t>Validación con estudiantes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B33"/>
                </a:solidFill>
                <a:latin typeface="Calibri (MS)"/>
                <a:ea typeface="Calibri (MS)"/>
                <a:cs typeface="Calibri (MS)"/>
                <a:sym typeface="Calibri (MS)"/>
              </a:rPr>
              <a:t>Manual de usuario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6733520" y="9517380"/>
            <a:ext cx="7315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7C8A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731520"/>
            <a:ext cx="16093440" cy="1280160"/>
            <a:chOff x="0" y="0"/>
            <a:chExt cx="2145792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79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45792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60"/>
                </a:lnSpc>
              </a:pPr>
              <a:r>
                <a:rPr lang="en-US" sz="6800" b="true">
                  <a:solidFill>
                    <a:srgbClr val="0F3D4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Desafíos y próximos pasos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97280" y="2560320"/>
            <a:ext cx="7863840" cy="6217920"/>
            <a:chOff x="0" y="0"/>
            <a:chExt cx="10485120" cy="8290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85120" cy="8290560"/>
            </a:xfrm>
            <a:custGeom>
              <a:avLst/>
              <a:gdLst/>
              <a:ahLst/>
              <a:cxnLst/>
              <a:rect r="r" b="b" t="t" l="l"/>
              <a:pathLst>
                <a:path h="8290560" w="10485120">
                  <a:moveTo>
                    <a:pt x="0" y="292608"/>
                  </a:moveTo>
                  <a:cubicBezTo>
                    <a:pt x="0" y="130937"/>
                    <a:pt x="130937" y="0"/>
                    <a:pt x="292608" y="0"/>
                  </a:cubicBezTo>
                  <a:lnTo>
                    <a:pt x="10192512" y="0"/>
                  </a:lnTo>
                  <a:cubicBezTo>
                    <a:pt x="10354056" y="0"/>
                    <a:pt x="10485120" y="130937"/>
                    <a:pt x="10485120" y="292608"/>
                  </a:cubicBezTo>
                  <a:lnTo>
                    <a:pt x="10485120" y="7997952"/>
                  </a:lnTo>
                  <a:cubicBezTo>
                    <a:pt x="10485120" y="8159497"/>
                    <a:pt x="10354183" y="8290560"/>
                    <a:pt x="10192512" y="8290560"/>
                  </a:cubicBezTo>
                  <a:lnTo>
                    <a:pt x="292608" y="8290560"/>
                  </a:lnTo>
                  <a:cubicBezTo>
                    <a:pt x="130937" y="8290560"/>
                    <a:pt x="0" y="8159623"/>
                    <a:pt x="0" y="79979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326880" y="2560320"/>
            <a:ext cx="7863840" cy="6217920"/>
            <a:chOff x="0" y="0"/>
            <a:chExt cx="10485120" cy="8290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85120" cy="8290560"/>
            </a:xfrm>
            <a:custGeom>
              <a:avLst/>
              <a:gdLst/>
              <a:ahLst/>
              <a:cxnLst/>
              <a:rect r="r" b="b" t="t" l="l"/>
              <a:pathLst>
                <a:path h="8290560" w="10485120">
                  <a:moveTo>
                    <a:pt x="0" y="292608"/>
                  </a:moveTo>
                  <a:cubicBezTo>
                    <a:pt x="0" y="130937"/>
                    <a:pt x="130937" y="0"/>
                    <a:pt x="292608" y="0"/>
                  </a:cubicBezTo>
                  <a:lnTo>
                    <a:pt x="10192512" y="0"/>
                  </a:lnTo>
                  <a:cubicBezTo>
                    <a:pt x="10354056" y="0"/>
                    <a:pt x="10485120" y="130937"/>
                    <a:pt x="10485120" y="292608"/>
                  </a:cubicBezTo>
                  <a:lnTo>
                    <a:pt x="10485120" y="7997952"/>
                  </a:lnTo>
                  <a:cubicBezTo>
                    <a:pt x="10485120" y="8159497"/>
                    <a:pt x="10354183" y="8290560"/>
                    <a:pt x="10192512" y="8290560"/>
                  </a:cubicBezTo>
                  <a:lnTo>
                    <a:pt x="292608" y="8290560"/>
                  </a:lnTo>
                  <a:cubicBezTo>
                    <a:pt x="130937" y="8290560"/>
                    <a:pt x="0" y="8159623"/>
                    <a:pt x="0" y="7997952"/>
                  </a:cubicBezTo>
                  <a:close/>
                </a:path>
              </a:pathLst>
            </a:custGeom>
            <a:solidFill>
              <a:srgbClr val="0F3D4C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54480" y="2926080"/>
            <a:ext cx="1097280" cy="1097280"/>
            <a:chOff x="0" y="0"/>
            <a:chExt cx="1463040" cy="14630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E76F5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828800" y="3200400"/>
            <a:ext cx="548640" cy="548640"/>
            <a:chOff x="0" y="0"/>
            <a:chExt cx="731520" cy="731520"/>
          </a:xfrm>
        </p:grpSpPr>
        <p:sp>
          <p:nvSpPr>
            <p:cNvPr name="Freeform 12" id="12" descr="FaExclamationTriangle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926080" y="2926080"/>
            <a:ext cx="5486400" cy="1097280"/>
            <a:chOff x="0" y="0"/>
            <a:chExt cx="7315200" cy="1463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85725"/>
              <a:ext cx="731520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0F3D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Desafíos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554480" y="4331970"/>
            <a:ext cx="7040880" cy="426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B33"/>
                </a:solidFill>
                <a:latin typeface="Calibri (MS)"/>
                <a:ea typeface="Calibri (MS)"/>
                <a:cs typeface="Calibri (MS)"/>
                <a:sym typeface="Calibri (MS)"/>
              </a:rPr>
              <a:t>Entrevista con Bienestar Estudiantil no concretada; la reemplazamos por un psicólogo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B33"/>
                </a:solidFill>
                <a:latin typeface="Calibri (MS)"/>
                <a:ea typeface="Calibri (MS)"/>
                <a:cs typeface="Calibri (MS)"/>
                <a:sym typeface="Calibri (MS)"/>
              </a:rPr>
              <a:t>Definir qué es adecuado al tratar salud mental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B33"/>
                </a:solidFill>
                <a:latin typeface="Calibri (MS)"/>
                <a:ea typeface="Calibri (MS)"/>
                <a:cs typeface="Calibri (MS)"/>
                <a:sym typeface="Calibri (MS)"/>
              </a:rPr>
              <a:t>Mantener la carta Gantt al día con las tareas reales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B33"/>
                </a:solidFill>
                <a:latin typeface="Calibri (MS)"/>
                <a:ea typeface="Calibri (MS)"/>
                <a:cs typeface="Calibri (MS)"/>
                <a:sym typeface="Calibri (MS)"/>
              </a:rPr>
              <a:t>Pruebas en dispositivo Android real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784080" y="2926080"/>
            <a:ext cx="1097280" cy="1097280"/>
            <a:chOff x="0" y="0"/>
            <a:chExt cx="1463040" cy="1463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F2B33D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058400" y="3200400"/>
            <a:ext cx="548640" cy="548640"/>
            <a:chOff x="0" y="0"/>
            <a:chExt cx="731520" cy="731520"/>
          </a:xfrm>
        </p:grpSpPr>
        <p:sp>
          <p:nvSpPr>
            <p:cNvPr name="Freeform 20" id="20" descr="FaRocket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155680" y="2926080"/>
            <a:ext cx="5486400" cy="1097280"/>
            <a:chOff x="0" y="0"/>
            <a:chExt cx="7315200" cy="14630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15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85725"/>
              <a:ext cx="731520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Próximos pasos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784080" y="4331970"/>
            <a:ext cx="7040880" cy="426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Validar la app en Android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Probar con estudiantes, con consentimiento informado y datos anonimizados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Aplicar mejoras según la retroalimentación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Elaborar el manual de usuario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Completar el informe final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733520" y="9517380"/>
            <a:ext cx="7315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7C8A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781675"/>
            <a:ext cx="5667375" cy="4505325"/>
          </a:xfrm>
          <a:custGeom>
            <a:avLst/>
            <a:gdLst/>
            <a:ahLst/>
            <a:cxnLst/>
            <a:rect r="r" b="b" t="t" l="l"/>
            <a:pathLst>
              <a:path h="4505325" w="5667375">
                <a:moveTo>
                  <a:pt x="0" y="0"/>
                </a:moveTo>
                <a:lnTo>
                  <a:pt x="5667375" y="0"/>
                </a:lnTo>
                <a:lnTo>
                  <a:pt x="5667375" y="4505325"/>
                </a:lnTo>
                <a:lnTo>
                  <a:pt x="0" y="4505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715231" y="3996043"/>
            <a:ext cx="4650547" cy="1439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50"/>
              </a:lnSpc>
            </a:pPr>
            <a:r>
              <a:rPr lang="en-US" b="true" sz="10249" spc="205">
                <a:solidFill>
                  <a:srgbClr val="FAFAFA"/>
                </a:solidFill>
                <a:latin typeface="Libra Serif Modern Bold"/>
                <a:ea typeface="Libra Serif Modern Bold"/>
                <a:cs typeface="Libra Serif Modern Bold"/>
                <a:sym typeface="Libra Serif Modern Bold"/>
              </a:rPr>
              <a:t>Gracias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62539" y="5894949"/>
            <a:ext cx="13355931" cy="498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8"/>
              </a:lnSpc>
            </a:pPr>
            <a:r>
              <a:rPr lang="en-US" sz="3005" b="true">
                <a:solidFill>
                  <a:srgbClr val="76B8A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DuocMind: organizar la carga académica también es cuidar tu bienestar.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940061" y="7742612"/>
            <a:ext cx="2200889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8"/>
              </a:lnSpc>
            </a:pPr>
            <a:r>
              <a:rPr lang="en-US" sz="2784" b="true">
                <a:solidFill>
                  <a:srgbClr val="F0B24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¿Preguntas?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017381" y="679828"/>
            <a:ext cx="2253239" cy="3252752"/>
          </a:xfrm>
          <a:custGeom>
            <a:avLst/>
            <a:gdLst/>
            <a:ahLst/>
            <a:cxnLst/>
            <a:rect r="r" b="b" t="t" l="l"/>
            <a:pathLst>
              <a:path h="3252752" w="2253239">
                <a:moveTo>
                  <a:pt x="0" y="0"/>
                </a:moveTo>
                <a:lnTo>
                  <a:pt x="2253238" y="0"/>
                </a:lnTo>
                <a:lnTo>
                  <a:pt x="2253238" y="3252753"/>
                </a:lnTo>
                <a:lnTo>
                  <a:pt x="0" y="32527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401550" y="5572125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325850" y="471487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DAHYambjhlQ</dc:identifier>
  <dcterms:modified xsi:type="dcterms:W3CDTF">2011-08-01T06:04:30Z</dcterms:modified>
  <cp:revision>1</cp:revision>
  <dc:title>DuocMind_Presentacion_APT.pptx</dc:title>
</cp:coreProperties>
</file>